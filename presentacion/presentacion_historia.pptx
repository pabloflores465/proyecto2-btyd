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8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9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72fb8f6-fcdf-8ee9-0fab-99fa772ffe5e}">
          <p14:sldIdLst>
            <p14:sldId id="256"/>
            <p14:sldId id="257"/>
            <p14:sldId id="258"/>
          </p14:sldIdLst>
        </p14:section>
        <p14:section name="Acto I · El modelo" id="{4ea28591-31b5-33c4-9812-637b49b8396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cto II · Pronóstico" id="{37b4a78f-95af-2f5c-9570-9e90a446da25}">
          <p14:sldIdLst>
            <p14:sldId id="265"/>
            <p14:sldId id="266"/>
            <p14:sldId id="267"/>
            <p14:sldId id="268"/>
            <p14:sldId id="269"/>
          </p14:sldIdLst>
        </p14:section>
        <p14:section name="Acto III · ¿Quién sigue vivo?" id="{03835c4a-1a58-a2cc-489a-b51aae6c5e84}">
          <p14:sldIdLst>
            <p14:sldId id="270"/>
            <p14:sldId id="271"/>
            <p14:sldId id="272"/>
            <p14:sldId id="273"/>
            <p14:sldId id="274"/>
          </p14:sldIdLst>
        </p14:section>
        <p14:section name="Acto IV · Online Retail" id="{42f0f9d8-0e71-6a96-411c-6d440bc3de21}">
          <p14:sldIdLst>
            <p14:sldId id="275"/>
            <p14:sldId id="276"/>
            <p14:sldId id="277"/>
          </p14:sldIdLst>
        </p14:section>
        <p14:section name="Acto V · Logística" id="{6553a257-016f-eaa4-c137-7f6c3d00b7a9}">
          <p14:sldIdLst>
            <p14:sldId id="278"/>
            <p14:sldId id="279"/>
            <p14:sldId id="280"/>
            <p14:sldId id="281"/>
          </p14:sldIdLst>
        </p14:section>
        <p14:section name="Cierre" id="{42f99e3f-3d32-6d25-8d84-9973f1a4636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Tasa de compra λ (compras por semana)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densidad de λ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0.01</c:v>
                  </c:pt>
                  <c:pt idx="1">
                    <c:v>0.01</c:v>
                  </c:pt>
                  <c:pt idx="2">
                    <c:v>0.01</c:v>
                  </c:pt>
                  <c:pt idx="3">
                    <c:v>0.02</c:v>
                  </c:pt>
                  <c:pt idx="4">
                    <c:v>0.03</c:v>
                  </c:pt>
                  <c:pt idx="5">
                    <c:v>0.03</c:v>
                  </c:pt>
                  <c:pt idx="6">
                    <c:v>0.04</c:v>
                  </c:pt>
                  <c:pt idx="7">
                    <c:v>0.04</c:v>
                  </c:pt>
                  <c:pt idx="8">
                    <c:v>0.04</c:v>
                  </c:pt>
                  <c:pt idx="9">
                    <c:v>0.05</c:v>
                  </c:pt>
                  <c:pt idx="10">
                    <c:v>0.06</c:v>
                  </c:pt>
                  <c:pt idx="11">
                    <c:v>0.06</c:v>
                  </c:pt>
                  <c:pt idx="12">
                    <c:v>0.07</c:v>
                  </c:pt>
                  <c:pt idx="13">
                    <c:v>0.07</c:v>
                  </c:pt>
                  <c:pt idx="14">
                    <c:v>0.07</c:v>
                  </c:pt>
                  <c:pt idx="15">
                    <c:v>0.08</c:v>
                  </c:pt>
                  <c:pt idx="16">
                    <c:v>0.09</c:v>
                  </c:pt>
                  <c:pt idx="17">
                    <c:v>0.09</c:v>
                  </c:pt>
                  <c:pt idx="18">
                    <c:v>0.10</c:v>
                  </c:pt>
                  <c:pt idx="19">
                    <c:v>0.10</c:v>
                  </c:pt>
                  <c:pt idx="20">
                    <c:v>0.10</c:v>
                  </c:pt>
                  <c:pt idx="21">
                    <c:v>0.11</c:v>
                  </c:pt>
                  <c:pt idx="22">
                    <c:v>0.12</c:v>
                  </c:pt>
                  <c:pt idx="23">
                    <c:v>0.12</c:v>
                  </c:pt>
                  <c:pt idx="24">
                    <c:v>0.12</c:v>
                  </c:pt>
                  <c:pt idx="25">
                    <c:v>0.13</c:v>
                  </c:pt>
                  <c:pt idx="26">
                    <c:v>0.14</c:v>
                  </c:pt>
                  <c:pt idx="27">
                    <c:v>0.14</c:v>
                  </c:pt>
                  <c:pt idx="28">
                    <c:v>0.14</c:v>
                  </c:pt>
                  <c:pt idx="29">
                    <c:v>0.15</c:v>
                  </c:pt>
                  <c:pt idx="30">
                    <c:v>0.15</c:v>
                  </c:pt>
                  <c:pt idx="31">
                    <c:v>0.16</c:v>
                  </c:pt>
                  <c:pt idx="32">
                    <c:v>0.17</c:v>
                  </c:pt>
                  <c:pt idx="33">
                    <c:v>0.17</c:v>
                  </c:pt>
                  <c:pt idx="34">
                    <c:v>0.17</c:v>
                  </c:pt>
                  <c:pt idx="35">
                    <c:v>0.18</c:v>
                  </c:pt>
                  <c:pt idx="36">
                    <c:v>0.18</c:v>
                  </c:pt>
                  <c:pt idx="37">
                    <c:v>0.19</c:v>
                  </c:pt>
                  <c:pt idx="38">
                    <c:v>0.20</c:v>
                  </c:pt>
                  <c:pt idx="39">
                    <c:v>0.20</c:v>
                  </c:pt>
                  <c:pt idx="40">
                    <c:v>0.20</c:v>
                  </c:pt>
                  <c:pt idx="41">
                    <c:v>0.21</c:v>
                  </c:pt>
                  <c:pt idx="42">
                    <c:v>0.21</c:v>
                  </c:pt>
                  <c:pt idx="43">
                    <c:v>0.22</c:v>
                  </c:pt>
                  <c:pt idx="44">
                    <c:v>0.23</c:v>
                  </c:pt>
                  <c:pt idx="45">
                    <c:v>0.23</c:v>
                  </c:pt>
                  <c:pt idx="46">
                    <c:v>0.23</c:v>
                  </c:pt>
                  <c:pt idx="47">
                    <c:v>0.24</c:v>
                  </c:pt>
                  <c:pt idx="48">
                    <c:v>0.24</c:v>
                  </c:pt>
                  <c:pt idx="49">
                    <c:v>0.25</c:v>
                  </c:pt>
                  <c:pt idx="50">
                    <c:v>0.26</c:v>
                  </c:pt>
                  <c:pt idx="51">
                    <c:v>0.26</c:v>
                  </c:pt>
                  <c:pt idx="52">
                    <c:v>0.27</c:v>
                  </c:pt>
                  <c:pt idx="53">
                    <c:v>0.27</c:v>
                  </c:pt>
                  <c:pt idx="54">
                    <c:v>0.28</c:v>
                  </c:pt>
                  <c:pt idx="55">
                    <c:v>0.28</c:v>
                  </c:pt>
                  <c:pt idx="56">
                    <c:v>0.28</c:v>
                  </c:pt>
                  <c:pt idx="57">
                    <c:v>0.29</c:v>
                  </c:pt>
                  <c:pt idx="58">
                    <c:v>0.29</c:v>
                  </c:pt>
                  <c:pt idx="59">
                    <c:v>0.30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20.724</c:v>
                </c:pt>
                <c:pt idx="1">
                  <c:v>11.992</c:v>
                </c:pt>
                <c:pt idx="2">
                  <c:v>8.628</c:v>
                </c:pt>
                <c:pt idx="3">
                  <c:v>6.788</c:v>
                </c:pt>
                <c:pt idx="4">
                  <c:v>5.607</c:v>
                </c:pt>
                <c:pt idx="5">
                  <c:v>4.777</c:v>
                </c:pt>
                <c:pt idx="6">
                  <c:v>4.158</c:v>
                </c:pt>
                <c:pt idx="7">
                  <c:v>3.676</c:v>
                </c:pt>
                <c:pt idx="8">
                  <c:v>3.289</c:v>
                </c:pt>
                <c:pt idx="9">
                  <c:v>2.97</c:v>
                </c:pt>
                <c:pt idx="10">
                  <c:v>2.703</c:v>
                </c:pt>
                <c:pt idx="11">
                  <c:v>2.476</c:v>
                </c:pt>
                <c:pt idx="12">
                  <c:v>2.279</c:v>
                </c:pt>
                <c:pt idx="13">
                  <c:v>2.108</c:v>
                </c:pt>
                <c:pt idx="14">
                  <c:v>1.957</c:v>
                </c:pt>
                <c:pt idx="15">
                  <c:v>1.823</c:v>
                </c:pt>
                <c:pt idx="16">
                  <c:v>1.703</c:v>
                </c:pt>
                <c:pt idx="17">
                  <c:v>1.595</c:v>
                </c:pt>
                <c:pt idx="18">
                  <c:v>1.498</c:v>
                </c:pt>
                <c:pt idx="19">
                  <c:v>1.409</c:v>
                </c:pt>
                <c:pt idx="20">
                  <c:v>1.328</c:v>
                </c:pt>
                <c:pt idx="21">
                  <c:v>1.254</c:v>
                </c:pt>
                <c:pt idx="22">
                  <c:v>1.186</c:v>
                </c:pt>
                <c:pt idx="23">
                  <c:v>1.124</c:v>
                </c:pt>
                <c:pt idx="24">
                  <c:v>1.066</c:v>
                </c:pt>
                <c:pt idx="25">
                  <c:v>1.012</c:v>
                </c:pt>
                <c:pt idx="26">
                  <c:v>0.962</c:v>
                </c:pt>
                <c:pt idx="27">
                  <c:v>0.915</c:v>
                </c:pt>
                <c:pt idx="28">
                  <c:v>0.872</c:v>
                </c:pt>
                <c:pt idx="29">
                  <c:v>0.831</c:v>
                </c:pt>
                <c:pt idx="30">
                  <c:v>0.793</c:v>
                </c:pt>
                <c:pt idx="31">
                  <c:v>0.757</c:v>
                </c:pt>
                <c:pt idx="32">
                  <c:v>0.724</c:v>
                </c:pt>
                <c:pt idx="33">
                  <c:v>0.692</c:v>
                </c:pt>
                <c:pt idx="34">
                  <c:v>0.662</c:v>
                </c:pt>
                <c:pt idx="35">
                  <c:v>0.634</c:v>
                </c:pt>
                <c:pt idx="36">
                  <c:v>0.608</c:v>
                </c:pt>
                <c:pt idx="37">
                  <c:v>0.583</c:v>
                </c:pt>
                <c:pt idx="38">
                  <c:v>0.559</c:v>
                </c:pt>
                <c:pt idx="39">
                  <c:v>0.536</c:v>
                </c:pt>
                <c:pt idx="40">
                  <c:v>0.515</c:v>
                </c:pt>
                <c:pt idx="41">
                  <c:v>0.494</c:v>
                </c:pt>
                <c:pt idx="42">
                  <c:v>0.475</c:v>
                </c:pt>
                <c:pt idx="43">
                  <c:v>0.457</c:v>
                </c:pt>
                <c:pt idx="44">
                  <c:v>0.439</c:v>
                </c:pt>
                <c:pt idx="45">
                  <c:v>0.422</c:v>
                </c:pt>
                <c:pt idx="46">
                  <c:v>0.407</c:v>
                </c:pt>
                <c:pt idx="47">
                  <c:v>0.391</c:v>
                </c:pt>
                <c:pt idx="48">
                  <c:v>0.377</c:v>
                </c:pt>
                <c:pt idx="49">
                  <c:v>0.363</c:v>
                </c:pt>
                <c:pt idx="50">
                  <c:v>0.35</c:v>
                </c:pt>
                <c:pt idx="51">
                  <c:v>0.337</c:v>
                </c:pt>
                <c:pt idx="52">
                  <c:v>0.325</c:v>
                </c:pt>
                <c:pt idx="53">
                  <c:v>0.314</c:v>
                </c:pt>
                <c:pt idx="54">
                  <c:v>0.303</c:v>
                </c:pt>
                <c:pt idx="55">
                  <c:v>0.292</c:v>
                </c:pt>
                <c:pt idx="56">
                  <c:v>0.282</c:v>
                </c:pt>
                <c:pt idx="57">
                  <c:v>0.272</c:v>
                </c:pt>
                <c:pt idx="58">
                  <c:v>0.263</c:v>
                </c:pt>
                <c:pt idx="59">
                  <c:v>0.254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Probabilidad de irse tras cada compra, 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densidad de p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0.02</c:v>
                  </c:pt>
                  <c:pt idx="1">
                    <c:v>0.04</c:v>
                  </c:pt>
                  <c:pt idx="2">
                    <c:v>0.06</c:v>
                  </c:pt>
                  <c:pt idx="3">
                    <c:v>0.08</c:v>
                  </c:pt>
                  <c:pt idx="4">
                    <c:v>0.10</c:v>
                  </c:pt>
                  <c:pt idx="5">
                    <c:v>0.12</c:v>
                  </c:pt>
                  <c:pt idx="6">
                    <c:v>0.14</c:v>
                  </c:pt>
                  <c:pt idx="7">
                    <c:v>0.16</c:v>
                  </c:pt>
                  <c:pt idx="8">
                    <c:v>0.18</c:v>
                  </c:pt>
                  <c:pt idx="9">
                    <c:v>0.20</c:v>
                  </c:pt>
                  <c:pt idx="10">
                    <c:v>0.22</c:v>
                  </c:pt>
                  <c:pt idx="11">
                    <c:v>0.24</c:v>
                  </c:pt>
                  <c:pt idx="12">
                    <c:v>0.26</c:v>
                  </c:pt>
                  <c:pt idx="13">
                    <c:v>0.28</c:v>
                  </c:pt>
                  <c:pt idx="14">
                    <c:v>0.30</c:v>
                  </c:pt>
                  <c:pt idx="15">
                    <c:v>0.32</c:v>
                  </c:pt>
                  <c:pt idx="16">
                    <c:v>0.34</c:v>
                  </c:pt>
                  <c:pt idx="17">
                    <c:v>0.36</c:v>
                  </c:pt>
                  <c:pt idx="18">
                    <c:v>0.38</c:v>
                  </c:pt>
                  <c:pt idx="19">
                    <c:v>0.40</c:v>
                  </c:pt>
                  <c:pt idx="20">
                    <c:v>0.42</c:v>
                  </c:pt>
                  <c:pt idx="21">
                    <c:v>0.44</c:v>
                  </c:pt>
                  <c:pt idx="22">
                    <c:v>0.46</c:v>
                  </c:pt>
                  <c:pt idx="23">
                    <c:v>0.48</c:v>
                  </c:pt>
                  <c:pt idx="24">
                    <c:v>0.50</c:v>
                  </c:pt>
                  <c:pt idx="25">
                    <c:v>0.52</c:v>
                  </c:pt>
                  <c:pt idx="26">
                    <c:v>0.54</c:v>
                  </c:pt>
                  <c:pt idx="27">
                    <c:v>0.56</c:v>
                  </c:pt>
                  <c:pt idx="28">
                    <c:v>0.58</c:v>
                  </c:pt>
                  <c:pt idx="29">
                    <c:v>0.60</c:v>
                  </c:pt>
                  <c:pt idx="30">
                    <c:v>0.62</c:v>
                  </c:pt>
                  <c:pt idx="31">
                    <c:v>0.64</c:v>
                  </c:pt>
                  <c:pt idx="32">
                    <c:v>0.66</c:v>
                  </c:pt>
                  <c:pt idx="33">
                    <c:v>0.68</c:v>
                  </c:pt>
                  <c:pt idx="34">
                    <c:v>0.70</c:v>
                  </c:pt>
                  <c:pt idx="35">
                    <c:v>0.72</c:v>
                  </c:pt>
                  <c:pt idx="36">
                    <c:v>0.74</c:v>
                  </c:pt>
                  <c:pt idx="37">
                    <c:v>0.76</c:v>
                  </c:pt>
                  <c:pt idx="38">
                    <c:v>0.78</c:v>
                  </c:pt>
                  <c:pt idx="39">
                    <c:v>0.80</c:v>
                  </c:pt>
                  <c:pt idx="40">
                    <c:v>0.82</c:v>
                  </c:pt>
                  <c:pt idx="41">
                    <c:v>0.84</c:v>
                  </c:pt>
                  <c:pt idx="42">
                    <c:v>0.86</c:v>
                  </c:pt>
                  <c:pt idx="43">
                    <c:v>0.88</c:v>
                  </c:pt>
                  <c:pt idx="44">
                    <c:v>0.90</c:v>
                  </c:pt>
                  <c:pt idx="45">
                    <c:v>0.92</c:v>
                  </c:pt>
                  <c:pt idx="46">
                    <c:v>0.94</c:v>
                  </c:pt>
                  <c:pt idx="47">
                    <c:v>0.96</c:v>
                  </c:pt>
                  <c:pt idx="48">
                    <c:v>0.98</c:v>
                  </c:pt>
                </c:lvl>
              </c:multiLvlStrCache>
            </c:multiLvl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3.643</c:v>
                </c:pt>
                <c:pt idx="1">
                  <c:v>3.064</c:v>
                </c:pt>
                <c:pt idx="2">
                  <c:v>2.734</c:v>
                </c:pt>
                <c:pt idx="3">
                  <c:v>2.498</c:v>
                </c:pt>
                <c:pt idx="4">
                  <c:v>2.312</c:v>
                </c:pt>
                <c:pt idx="5">
                  <c:v>2.156</c:v>
                </c:pt>
                <c:pt idx="6">
                  <c:v>2.021</c:v>
                </c:pt>
                <c:pt idx="7">
                  <c:v>1.901</c:v>
                </c:pt>
                <c:pt idx="8">
                  <c:v>1.792</c:v>
                </c:pt>
                <c:pt idx="9">
                  <c:v>1.693</c:v>
                </c:pt>
                <c:pt idx="10">
                  <c:v>1.601</c:v>
                </c:pt>
                <c:pt idx="11">
                  <c:v>1.515</c:v>
                </c:pt>
                <c:pt idx="12">
                  <c:v>1.435</c:v>
                </c:pt>
                <c:pt idx="13">
                  <c:v>1.359</c:v>
                </c:pt>
                <c:pt idx="14">
                  <c:v>1.287</c:v>
                </c:pt>
                <c:pt idx="15">
                  <c:v>1.218</c:v>
                </c:pt>
                <c:pt idx="16">
                  <c:v>1.153</c:v>
                </c:pt>
                <c:pt idx="17">
                  <c:v>1.09</c:v>
                </c:pt>
                <c:pt idx="18">
                  <c:v>1.031</c:v>
                </c:pt>
                <c:pt idx="19">
                  <c:v>0.973</c:v>
                </c:pt>
                <c:pt idx="20">
                  <c:v>0.918</c:v>
                </c:pt>
                <c:pt idx="21">
                  <c:v>0.865</c:v>
                </c:pt>
                <c:pt idx="22">
                  <c:v>0.813</c:v>
                </c:pt>
                <c:pt idx="23">
                  <c:v>0.764</c:v>
                </c:pt>
                <c:pt idx="24">
                  <c:v>0.716</c:v>
                </c:pt>
                <c:pt idx="25">
                  <c:v>0.67</c:v>
                </c:pt>
                <c:pt idx="26">
                  <c:v>0.626</c:v>
                </c:pt>
                <c:pt idx="27">
                  <c:v>0.583</c:v>
                </c:pt>
                <c:pt idx="28">
                  <c:v>0.542</c:v>
                </c:pt>
                <c:pt idx="29">
                  <c:v>0.502</c:v>
                </c:pt>
                <c:pt idx="30">
                  <c:v>0.463</c:v>
                </c:pt>
                <c:pt idx="31">
                  <c:v>0.426</c:v>
                </c:pt>
                <c:pt idx="32">
                  <c:v>0.39</c:v>
                </c:pt>
                <c:pt idx="33">
                  <c:v>0.356</c:v>
                </c:pt>
                <c:pt idx="34">
                  <c:v>0.323</c:v>
                </c:pt>
                <c:pt idx="35">
                  <c:v>0.291</c:v>
                </c:pt>
                <c:pt idx="36">
                  <c:v>0.26</c:v>
                </c:pt>
                <c:pt idx="37">
                  <c:v>0.231</c:v>
                </c:pt>
                <c:pt idx="38">
                  <c:v>0.203</c:v>
                </c:pt>
                <c:pt idx="39">
                  <c:v>0.176</c:v>
                </c:pt>
                <c:pt idx="40">
                  <c:v>0.151</c:v>
                </c:pt>
                <c:pt idx="41">
                  <c:v>0.127</c:v>
                </c:pt>
                <c:pt idx="42">
                  <c:v>0.104</c:v>
                </c:pt>
                <c:pt idx="43">
                  <c:v>0.083</c:v>
                </c:pt>
                <c:pt idx="44">
                  <c:v>0.064</c:v>
                </c:pt>
                <c:pt idx="45">
                  <c:v>0.046</c:v>
                </c:pt>
                <c:pt idx="46">
                  <c:v>0.031</c:v>
                </c:pt>
                <c:pt idx="47">
                  <c:v>0.017</c:v>
                </c:pt>
                <c:pt idx="48">
                  <c:v>0.006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D2333"/>
            </a:solidFill>
            <a:ln w="38100" cap="flat">
              <a:solidFill>
                <a:srgbClr val="1D2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2333"/>
              </a:solidFill>
              <a:ln w="9525" cap="flat">
                <a:solidFill>
                  <a:srgbClr val="1D2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Sheet1!$A$2:$A$79</c:f>
              <c:multiLvlStrCache>
                <c:ptCount val="7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</c:lvl>
              </c:multiLvlStrCache>
            </c:multiLvlStr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19</c:v>
                </c:pt>
                <c:pt idx="2">
                  <c:v>42</c:v>
                </c:pt>
                <c:pt idx="3">
                  <c:v>81</c:v>
                </c:pt>
                <c:pt idx="4">
                  <c:v>119</c:v>
                </c:pt>
                <c:pt idx="5">
                  <c:v>192</c:v>
                </c:pt>
                <c:pt idx="6">
                  <c:v>261</c:v>
                </c:pt>
                <c:pt idx="7">
                  <c:v>351</c:v>
                </c:pt>
                <c:pt idx="8">
                  <c:v>428</c:v>
                </c:pt>
                <c:pt idx="9">
                  <c:v>504</c:v>
                </c:pt>
                <c:pt idx="10">
                  <c:v>610</c:v>
                </c:pt>
                <c:pt idx="11">
                  <c:v>733</c:v>
                </c:pt>
                <c:pt idx="12">
                  <c:v>828</c:v>
                </c:pt>
                <c:pt idx="13">
                  <c:v>914</c:v>
                </c:pt>
                <c:pt idx="14">
                  <c:v>1005</c:v>
                </c:pt>
                <c:pt idx="15">
                  <c:v>1078</c:v>
                </c:pt>
                <c:pt idx="16">
                  <c:v>1149</c:v>
                </c:pt>
                <c:pt idx="17">
                  <c:v>1222</c:v>
                </c:pt>
                <c:pt idx="18">
                  <c:v>1286</c:v>
                </c:pt>
                <c:pt idx="19">
                  <c:v>1359</c:v>
                </c:pt>
                <c:pt idx="20">
                  <c:v>1414</c:v>
                </c:pt>
                <c:pt idx="21">
                  <c:v>1484</c:v>
                </c:pt>
                <c:pt idx="22">
                  <c:v>1517</c:v>
                </c:pt>
                <c:pt idx="23">
                  <c:v>1573</c:v>
                </c:pt>
                <c:pt idx="24">
                  <c:v>1672</c:v>
                </c:pt>
                <c:pt idx="25">
                  <c:v>1746</c:v>
                </c:pt>
                <c:pt idx="26">
                  <c:v>1800</c:v>
                </c:pt>
                <c:pt idx="27">
                  <c:v>1840</c:v>
                </c:pt>
                <c:pt idx="28">
                  <c:v>1885</c:v>
                </c:pt>
                <c:pt idx="29">
                  <c:v>1973</c:v>
                </c:pt>
                <c:pt idx="30">
                  <c:v>2032</c:v>
                </c:pt>
                <c:pt idx="31">
                  <c:v>2069</c:v>
                </c:pt>
                <c:pt idx="32">
                  <c:v>2132</c:v>
                </c:pt>
                <c:pt idx="33">
                  <c:v>2192</c:v>
                </c:pt>
                <c:pt idx="34">
                  <c:v>2239</c:v>
                </c:pt>
                <c:pt idx="35">
                  <c:v>2290</c:v>
                </c:pt>
                <c:pt idx="36">
                  <c:v>2342</c:v>
                </c:pt>
                <c:pt idx="37">
                  <c:v>2395</c:v>
                </c:pt>
                <c:pt idx="38">
                  <c:v>2457</c:v>
                </c:pt>
                <c:pt idx="39">
                  <c:v>2507</c:v>
                </c:pt>
                <c:pt idx="40">
                  <c:v>2563</c:v>
                </c:pt>
                <c:pt idx="41">
                  <c:v>2612</c:v>
                </c:pt>
                <c:pt idx="42">
                  <c:v>2671</c:v>
                </c:pt>
                <c:pt idx="43">
                  <c:v>2718</c:v>
                </c:pt>
                <c:pt idx="44">
                  <c:v>2803</c:v>
                </c:pt>
                <c:pt idx="45">
                  <c:v>2864</c:v>
                </c:pt>
                <c:pt idx="46">
                  <c:v>2923</c:v>
                </c:pt>
                <c:pt idx="47">
                  <c:v>2968</c:v>
                </c:pt>
                <c:pt idx="48">
                  <c:v>3038</c:v>
                </c:pt>
                <c:pt idx="49">
                  <c:v>3104</c:v>
                </c:pt>
                <c:pt idx="50">
                  <c:v>3153</c:v>
                </c:pt>
                <c:pt idx="51">
                  <c:v>3183</c:v>
                </c:pt>
                <c:pt idx="52">
                  <c:v>3234</c:v>
                </c:pt>
                <c:pt idx="53">
                  <c:v>3276</c:v>
                </c:pt>
                <c:pt idx="54">
                  <c:v>3329</c:v>
                </c:pt>
                <c:pt idx="55">
                  <c:v>3357</c:v>
                </c:pt>
                <c:pt idx="56">
                  <c:v>3404</c:v>
                </c:pt>
                <c:pt idx="57">
                  <c:v>3444</c:v>
                </c:pt>
                <c:pt idx="58">
                  <c:v>3490</c:v>
                </c:pt>
                <c:pt idx="59">
                  <c:v>3533</c:v>
                </c:pt>
                <c:pt idx="60">
                  <c:v>3598</c:v>
                </c:pt>
                <c:pt idx="61">
                  <c:v>3677</c:v>
                </c:pt>
                <c:pt idx="62">
                  <c:v>3727</c:v>
                </c:pt>
                <c:pt idx="63">
                  <c:v>3786</c:v>
                </c:pt>
                <c:pt idx="64">
                  <c:v>3844</c:v>
                </c:pt>
                <c:pt idx="65">
                  <c:v>3879</c:v>
                </c:pt>
                <c:pt idx="66">
                  <c:v>3915</c:v>
                </c:pt>
                <c:pt idx="67">
                  <c:v>3962</c:v>
                </c:pt>
                <c:pt idx="68">
                  <c:v>3991</c:v>
                </c:pt>
                <c:pt idx="69">
                  <c:v>4035</c:v>
                </c:pt>
                <c:pt idx="70">
                  <c:v>4077</c:v>
                </c:pt>
                <c:pt idx="71">
                  <c:v>4112</c:v>
                </c:pt>
                <c:pt idx="72">
                  <c:v>4141</c:v>
                </c:pt>
                <c:pt idx="73">
                  <c:v>4183</c:v>
                </c:pt>
                <c:pt idx="74">
                  <c:v>4231</c:v>
                </c:pt>
                <c:pt idx="75">
                  <c:v>4279</c:v>
                </c:pt>
                <c:pt idx="76">
                  <c:v>4311</c:v>
                </c:pt>
                <c:pt idx="77">
                  <c:v>4339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BG/NBD (bottom-up)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Sheet1!$A$2:$A$79</c:f>
              <c:multiLvlStrCache>
                <c:ptCount val="7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</c:lvl>
              </c:multiLvlStrCache>
            </c:multiLvlStr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4.4</c:v>
                </c:pt>
                <c:pt idx="1">
                  <c:v>17.2</c:v>
                </c:pt>
                <c:pt idx="2">
                  <c:v>38.6</c:v>
                </c:pt>
                <c:pt idx="3">
                  <c:v>68.9</c:v>
                </c:pt>
                <c:pt idx="4">
                  <c:v>108.6</c:v>
                </c:pt>
                <c:pt idx="5">
                  <c:v>158</c:v>
                </c:pt>
                <c:pt idx="6">
                  <c:v>215.8</c:v>
                </c:pt>
                <c:pt idx="7">
                  <c:v>281.8</c:v>
                </c:pt>
                <c:pt idx="8">
                  <c:v>356.5</c:v>
                </c:pt>
                <c:pt idx="9">
                  <c:v>439.4</c:v>
                </c:pt>
                <c:pt idx="10">
                  <c:v>529.6</c:v>
                </c:pt>
                <c:pt idx="11">
                  <c:v>625.9</c:v>
                </c:pt>
                <c:pt idx="12">
                  <c:v>722.5</c:v>
                </c:pt>
                <c:pt idx="13">
                  <c:v>815.4</c:v>
                </c:pt>
                <c:pt idx="14">
                  <c:v>905</c:v>
                </c:pt>
                <c:pt idx="15">
                  <c:v>991.5</c:v>
                </c:pt>
                <c:pt idx="16">
                  <c:v>1075.3</c:v>
                </c:pt>
                <c:pt idx="17">
                  <c:v>1156.6</c:v>
                </c:pt>
                <c:pt idx="18">
                  <c:v>1235.6</c:v>
                </c:pt>
                <c:pt idx="19">
                  <c:v>1312.5</c:v>
                </c:pt>
                <c:pt idx="20">
                  <c:v>1387.3</c:v>
                </c:pt>
                <c:pt idx="21">
                  <c:v>1460.4</c:v>
                </c:pt>
                <c:pt idx="22">
                  <c:v>1531.7</c:v>
                </c:pt>
                <c:pt idx="23">
                  <c:v>1601.4</c:v>
                </c:pt>
                <c:pt idx="24">
                  <c:v>1669.6</c:v>
                </c:pt>
                <c:pt idx="25">
                  <c:v>1736.3</c:v>
                </c:pt>
                <c:pt idx="26">
                  <c:v>1801.7</c:v>
                </c:pt>
                <c:pt idx="27">
                  <c:v>1865.8</c:v>
                </c:pt>
                <c:pt idx="28">
                  <c:v>1928.7</c:v>
                </c:pt>
                <c:pt idx="29">
                  <c:v>1990.4</c:v>
                </c:pt>
                <c:pt idx="30">
                  <c:v>2051.1</c:v>
                </c:pt>
                <c:pt idx="31">
                  <c:v>2110.6</c:v>
                </c:pt>
                <c:pt idx="32">
                  <c:v>2169.2</c:v>
                </c:pt>
                <c:pt idx="33">
                  <c:v>2226.8</c:v>
                </c:pt>
                <c:pt idx="34">
                  <c:v>2283.4</c:v>
                </c:pt>
                <c:pt idx="35">
                  <c:v>2339.2</c:v>
                </c:pt>
                <c:pt idx="36">
                  <c:v>2394.1</c:v>
                </c:pt>
                <c:pt idx="37">
                  <c:v>2448.2</c:v>
                </c:pt>
                <c:pt idx="38">
                  <c:v>2501.5</c:v>
                </c:pt>
                <c:pt idx="39">
                  <c:v>2554.1</c:v>
                </c:pt>
                <c:pt idx="40">
                  <c:v>2605.9</c:v>
                </c:pt>
                <c:pt idx="41">
                  <c:v>2657</c:v>
                </c:pt>
                <c:pt idx="42">
                  <c:v>2707.5</c:v>
                </c:pt>
                <c:pt idx="43">
                  <c:v>2757.2</c:v>
                </c:pt>
                <c:pt idx="44">
                  <c:v>2806.4</c:v>
                </c:pt>
                <c:pt idx="45">
                  <c:v>2854.9</c:v>
                </c:pt>
                <c:pt idx="46">
                  <c:v>2902.8</c:v>
                </c:pt>
                <c:pt idx="47">
                  <c:v>2950.2</c:v>
                </c:pt>
                <c:pt idx="48">
                  <c:v>2997</c:v>
                </c:pt>
                <c:pt idx="49">
                  <c:v>3043.2</c:v>
                </c:pt>
                <c:pt idx="50">
                  <c:v>3088.9</c:v>
                </c:pt>
                <c:pt idx="51">
                  <c:v>3134.1</c:v>
                </c:pt>
                <c:pt idx="52">
                  <c:v>3178.8</c:v>
                </c:pt>
                <c:pt idx="53">
                  <c:v>3223</c:v>
                </c:pt>
                <c:pt idx="54">
                  <c:v>3266.7</c:v>
                </c:pt>
                <c:pt idx="55">
                  <c:v>3310</c:v>
                </c:pt>
                <c:pt idx="56">
                  <c:v>3352.9</c:v>
                </c:pt>
                <c:pt idx="57">
                  <c:v>3395.2</c:v>
                </c:pt>
                <c:pt idx="58">
                  <c:v>3437.2</c:v>
                </c:pt>
                <c:pt idx="59">
                  <c:v>3478.8</c:v>
                </c:pt>
                <c:pt idx="60">
                  <c:v>3519.9</c:v>
                </c:pt>
                <c:pt idx="61">
                  <c:v>3560.7</c:v>
                </c:pt>
                <c:pt idx="62">
                  <c:v>3601</c:v>
                </c:pt>
                <c:pt idx="63">
                  <c:v>3641</c:v>
                </c:pt>
                <c:pt idx="64">
                  <c:v>3680.6</c:v>
                </c:pt>
                <c:pt idx="65">
                  <c:v>3719.9</c:v>
                </c:pt>
                <c:pt idx="66">
                  <c:v>3758.8</c:v>
                </c:pt>
                <c:pt idx="67">
                  <c:v>3797.4</c:v>
                </c:pt>
                <c:pt idx="68">
                  <c:v>3835.6</c:v>
                </c:pt>
                <c:pt idx="69">
                  <c:v>3873.5</c:v>
                </c:pt>
                <c:pt idx="70">
                  <c:v>3911.1</c:v>
                </c:pt>
                <c:pt idx="71">
                  <c:v>3948.4</c:v>
                </c:pt>
                <c:pt idx="72">
                  <c:v>3985.3</c:v>
                </c:pt>
                <c:pt idx="73">
                  <c:v>4022</c:v>
                </c:pt>
                <c:pt idx="74">
                  <c:v>4058.3</c:v>
                </c:pt>
                <c:pt idx="75">
                  <c:v>4094.4</c:v>
                </c:pt>
                <c:pt idx="76">
                  <c:v>4130.2</c:v>
                </c:pt>
                <c:pt idx="77">
                  <c:v>4165.7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+mn-lt"/>
                  </a:rPr>
                  <a:t>semana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+mn-lt"/>
                  </a:rPr>
                  <a:t>compras repetidas acumuladas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Error del total pronosticado, semanas 40–78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% en el holdout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Tendencia (sem 13–39)</c:v>
                  </c:pt>
                  <c:pt idx="1">
                    <c:v>Media (sem 13–39)</c:v>
                  </c:pt>
                  <c:pt idx="2">
                    <c:v>Media (sem 1–39)</c:v>
                  </c:pt>
                  <c:pt idx="3">
                    <c:v>Tendencia (sem 1–39)</c:v>
                  </c:pt>
                  <c:pt idx="4">
                    <c:v>Naive</c:v>
                  </c:pt>
                  <c:pt idx="5">
                    <c:v>Drift (sem 13–39)</c:v>
                  </c:pt>
                  <c:pt idx="6">
                    <c:v>Media últimas 13 sem</c:v>
                  </c:pt>
                  <c:pt idx="7">
                    <c:v>Media últimas 4 sem</c:v>
                  </c:pt>
                  <c:pt idx="8">
                    <c:v>BG/NBD</c:v>
                  </c:pt>
                  <c:pt idx="9">
                    <c:v>Tendencia (sem 26–39)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-49.8</c:v>
                </c:pt>
                <c:pt idx="1">
                  <c:v>32.3</c:v>
                </c:pt>
                <c:pt idx="2">
                  <c:v>30.6</c:v>
                </c:pt>
                <c:pt idx="3">
                  <c:v>29</c:v>
                </c:pt>
                <c:pt idx="4">
                  <c:v>28.5</c:v>
                </c:pt>
                <c:pt idx="5">
                  <c:v>-24.1</c:v>
                </c:pt>
                <c:pt idx="6">
                  <c:v>13.3</c:v>
                </c:pt>
                <c:pt idx="7">
                  <c:v>12.9</c:v>
                </c:pt>
                <c:pt idx="8">
                  <c:v>-11.6</c:v>
                </c:pt>
                <c:pt idx="9">
                  <c:v>-7.1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-60"/>
        </c:scaling>
        <c:delete val="0"/>
        <c:axPos val="b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Compras repetidas por semana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19</c:v>
                </c:pt>
                <c:pt idx="2">
                  <c:v>23</c:v>
                </c:pt>
                <c:pt idx="3">
                  <c:v>39</c:v>
                </c:pt>
                <c:pt idx="4">
                  <c:v>38</c:v>
                </c:pt>
                <c:pt idx="5">
                  <c:v>73</c:v>
                </c:pt>
                <c:pt idx="6">
                  <c:v>69</c:v>
                </c:pt>
                <c:pt idx="7">
                  <c:v>90</c:v>
                </c:pt>
                <c:pt idx="8">
                  <c:v>77</c:v>
                </c:pt>
                <c:pt idx="9">
                  <c:v>76</c:v>
                </c:pt>
                <c:pt idx="10">
                  <c:v>106</c:v>
                </c:pt>
                <c:pt idx="11">
                  <c:v>123</c:v>
                </c:pt>
                <c:pt idx="12">
                  <c:v>95</c:v>
                </c:pt>
                <c:pt idx="13">
                  <c:v>86</c:v>
                </c:pt>
                <c:pt idx="14">
                  <c:v>91</c:v>
                </c:pt>
                <c:pt idx="15">
                  <c:v>73</c:v>
                </c:pt>
                <c:pt idx="16">
                  <c:v>71</c:v>
                </c:pt>
                <c:pt idx="17">
                  <c:v>73</c:v>
                </c:pt>
                <c:pt idx="18">
                  <c:v>64</c:v>
                </c:pt>
                <c:pt idx="19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Clientes en la cohorte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157</c:v>
                </c:pt>
                <c:pt idx="1">
                  <c:v>321</c:v>
                </c:pt>
                <c:pt idx="2">
                  <c:v>503</c:v>
                </c:pt>
                <c:pt idx="3">
                  <c:v>696</c:v>
                </c:pt>
                <c:pt idx="4">
                  <c:v>912</c:v>
                </c:pt>
                <c:pt idx="5">
                  <c:v>1132</c:v>
                </c:pt>
                <c:pt idx="6">
                  <c:v>1334</c:v>
                </c:pt>
                <c:pt idx="7">
                  <c:v>1538</c:v>
                </c:pt>
                <c:pt idx="8">
                  <c:v>1757</c:v>
                </c:pt>
                <c:pt idx="9">
                  <c:v>1974</c:v>
                </c:pt>
                <c:pt idx="10">
                  <c:v>2178</c:v>
                </c:pt>
                <c:pt idx="11">
                  <c:v>2357</c:v>
                </c:pt>
                <c:pt idx="12">
                  <c:v>2357</c:v>
                </c:pt>
                <c:pt idx="13">
                  <c:v>2357</c:v>
                </c:pt>
                <c:pt idx="14">
                  <c:v>2357</c:v>
                </c:pt>
                <c:pt idx="15">
                  <c:v>2357</c:v>
                </c:pt>
                <c:pt idx="16">
                  <c:v>2357</c:v>
                </c:pt>
                <c:pt idx="17">
                  <c:v>2357</c:v>
                </c:pt>
                <c:pt idx="18">
                  <c:v>2357</c:v>
                </c:pt>
                <c:pt idx="19">
                  <c:v>2357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Arial"/>
                  </a:rPr>
                  <a:t>semana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Arial"/>
                  </a:rPr>
                  <a:t>compras repetidas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E76F5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E76F51"/>
                    </a:solidFill>
                    <a:latin typeface="Arial"/>
                  </a:rPr>
                  <a:t>clientes adquiridos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76F51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D2333"/>
            </a:solidFill>
            <a:ln w="38100" cap="flat">
              <a:solidFill>
                <a:srgbClr val="1D2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D2333"/>
              </a:solidFill>
              <a:ln w="9525" cap="flat">
                <a:solidFill>
                  <a:srgbClr val="1D2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0.237</c:v>
                </c:pt>
                <c:pt idx="1">
                  <c:v>0.697</c:v>
                </c:pt>
                <c:pt idx="2">
                  <c:v>1.393</c:v>
                </c:pt>
                <c:pt idx="3">
                  <c:v>1.56</c:v>
                </c:pt>
                <c:pt idx="4">
                  <c:v>2.532</c:v>
                </c:pt>
                <c:pt idx="5">
                  <c:v>2.947</c:v>
                </c:pt>
                <c:pt idx="6">
                  <c:v>3.862</c:v>
                </c:pt>
                <c:pt idx="7">
                  <c:v>6.359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BG/NBD E[Y(39)]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7+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0.225</c:v>
                </c:pt>
                <c:pt idx="1">
                  <c:v>0.523</c:v>
                </c:pt>
                <c:pt idx="2">
                  <c:v>1.044</c:v>
                </c:pt>
                <c:pt idx="3">
                  <c:v>1.52</c:v>
                </c:pt>
                <c:pt idx="4">
                  <c:v>2.164</c:v>
                </c:pt>
                <c:pt idx="5">
                  <c:v>2.654</c:v>
                </c:pt>
                <c:pt idx="6">
                  <c:v>3.504</c:v>
                </c:pt>
                <c:pt idx="7">
                  <c:v>6.157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+mn-lt"/>
                  </a:rPr>
                  <a:t>compras repetidas en calibración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233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2333"/>
                    </a:solidFill>
                    <a:latin typeface="+mn-lt"/>
                  </a:rPr>
                  <a:t>compras promedio en el holdout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AUC para predecir quién compra (39 semanas)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P(vivo)</c:v>
                  </c:pt>
                  <c:pt idx="1">
                    <c:v>P(Z = 1) BG/NBD</c:v>
                  </c:pt>
                  <c:pt idx="2">
                    <c:v>Frecuencia x</c:v>
                  </c:pt>
                  <c:pt idx="3">
                    <c:v>Recencia tₓ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0.316</c:v>
                </c:pt>
                <c:pt idx="1">
                  <c:v>0.757</c:v>
                </c:pt>
                <c:pt idx="2">
                  <c:v>0.758</c:v>
                </c:pt>
                <c:pt idx="3">
                  <c:v>0.763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Transacciones de la cohorte en el holdout, 2011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D2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Ago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Dic (1–8)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986</c:v>
                </c:pt>
                <c:pt idx="1">
                  <c:v>959</c:v>
                </c:pt>
                <c:pt idx="2">
                  <c:v>1154</c:v>
                </c:pt>
                <c:pt idx="3">
                  <c:v>1109</c:v>
                </c:pt>
                <c:pt idx="4">
                  <c:v>1643</c:v>
                </c:pt>
                <c:pt idx="5">
                  <c:v>462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BG/NBD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Ago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Dic (1–8)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1057</c:v>
                </c:pt>
                <c:pt idx="1">
                  <c:v>1057</c:v>
                </c:pt>
                <c:pt idx="2">
                  <c:v>1023</c:v>
                </c:pt>
                <c:pt idx="3">
                  <c:v>1057</c:v>
                </c:pt>
                <c:pt idx="4">
                  <c:v>1023</c:v>
                </c:pt>
                <c:pt idx="5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33"/>
                </a:solidFill>
                <a:latin typeface="+mn-lt"/>
              </a:rPr>
              <a:t>Brier score (menor es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Logística honesta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 semanas</c:v>
                  </c:pt>
                  <c:pt idx="1">
                    <c:v>26 semanas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0.1124</c:v>
                </c:pt>
                <c:pt idx="1">
                  <c:v>0.1559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BG/NBD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 semanas</c:v>
                  </c:pt>
                  <c:pt idx="1">
                    <c:v>26 semanas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0.1102</c:v>
                </c:pt>
                <c:pt idx="1">
                  <c:v>0.1475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Logística de 39 sem. usada tal cual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 semanas</c:v>
                  </c:pt>
                  <c:pt idx="1">
                    <c:v>26 semanas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0.1284</c:v>
                </c:pt>
                <c:pt idx="1">
                  <c:v>0.1454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D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8"/>
          <c:min val="0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les vamos a contar una historia de detectives. Una tienda de discos en línea de 1997, 2,357 clientes y una pregunta que parece fácil: ¿quién sigue vivo? Vamos a construir un modelo desde cero para responderla, y en el camino vamos a descubrir que la pregunta estaba mal planteada.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de partida. Seis de cada diez clientes no han vuelto. En Netflix sabríamos exactamente quién se fue, porque cancela su suscripción. En una tienda no: es un contexto no contractual. El silencio es ambiguo.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preguntas de cualquier gerente de mercadeo. Lo sorprendente de los modelos Buy 'Til You Die es que contestan ambas con solo tres números por cliente: cuántas veces volvió a comprar, cuándo fue la última vez y cuánto tiempo lleva con nosotros.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acto: construir el BG/NBD pieza por pieza, y probarlo antes de creerle.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ve el modelo a un cliente. Compra al azar, como un proceso de Poisson. Después de cada compra repetida tira una moneda cargada: con probabilidad p se va para siempre. Y como los clientes son distintos, la tasa λ y la probabilidad p varían según una gamma y una beta. Esa es toda la historia del BG/NBD de Fader, Hardie y Lee.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un cliente con λ y p conocidos, dos historias explican lo que vemos. Sumamos ambas; después integramos sobre la gamma y la beta, y sale la verosimilitud cerrada del artículo, con funciones gamma y beta. Lo importante: si el cliente nunca recompró, la segunda historia no existe. Además, para esos clientes la verosimilitud no depende de a ni de b: no nos dicen nada sobre la muerte.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si tu código no recupera parámetros que tú mismo pusiste, no le creas con datos reales. La compra se estima muy bien; la muerte, mucho peor. Además a y b se mueven juntos (correlación 0.93): la media de p está bien identificada, la forma de la beta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Mismos datos de CDNOW que el artículo, mismo resultado hasta el tercer decimal. Optimizamos sobre log-parámetros desde varios puntos de arranque: uno se perdió en una frontera, y por eso nunca confiamos en un solo arranque. El bootstrap sobre clientes nos da los errores estándar.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0.24 da una gamma con forma de L: la media es 0.055 compras por semana, pero la mediana es 0.009. E[p] = a/(a+b) = 0.25, una vida típica de unas cuatro recompras. Ninguna distribución es una punta: tratar a todos igual tira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acto: pronosticar las 39 semanas siguientes y competir contra los métodos de series de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Bottom-up: para cada cliente calculamos E[X(t)] desde su primera compra y sumamos. En calibración las curvas están encimadas; en el holdout el modelo se queda un poco abajo. A la semana 78 el error es −4%, exactamente lo que reporta el artículo. Solo en el holdout son 1,664 contra 1,882, −12%.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Top-down: tomamos la serie semanal agregada de las semanas 1 a 39 y pronosticamos con métodos de la tarea de series. El error va de −50% a +32% según el método y la ventana. Una variante le gana al BG/NBD, pero escogerla requiere saber el futuro. El 30 de septiembre no había forma de saber cuál 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primeras 12 semanas son la clave. La subida inicial no es una tendencia: es adquisición. Cuando se cierra la cohorte, la serie solo puede bajar. Una serie de tiempo no sabe nada de esto; el modelo por cliente lo sabe por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Agrupamos a los clientes según cuántas veces recompraron y comparamos su promedio de compras futuras con lo pronosticado. La forma es correcta y el grupo silencioso está bien pronosticado, igual que en el artículo (0.23 vs 0.24). Donde falla es con los de una o dos recompras.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 acto: el giro de la historia. Vamos a usar P(vivo) para predecir quién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P(vivo) como clasificador con umbral 0.5. El modelo declara vivos a casi dos mil clientes y solo 545 compran. La curva ROC queda debajo de la diagonal: AUC 0.316. Algo está volteado.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vuelve el detalle del primer acto. Para el 60% de la base sin recompras, P(vivo) vale exactamente 1, pero solo el 13.7% de ellos compra. Entre los clientes con recompras, P(vivo) sí funciona: su AUC es 0.70.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Derivamos la probabilidad correcta: un cliente vivo que no compra sigue vivo, y dado que está vivo su tasa a posteriori es Gamma(r+x, α+T). Con eso el AUC sube a 0.757. Pero hay que decirlo: la recencia sola da 0.763. El modelo no ordena mejor, aunque sí da probabilidades con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moraleja del enunciado en una diapositiva: el supuesto sobre cuándo se muere uno cambia mucho P(vivo) y casi nada P(Z=1). La fórmula de P(Z=1) sigue valiendo porque en el MBG/NBD también se muere solo justo después de comprar. El BG/NBD no es el modelo: es una elección.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Cuarto acto: llevamos el mismo código a otros datos, los de la tarea de series de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código, otros datos. Los estimados de a y b se van a las fronteras: el modelo concluye que nadie se muere. No es un optimizador perdido; el perfil de verosimilitud muestra que los datos prefieren p igual a cero. Sin silencios largos no hay evidencia de muerte: cualquier pausa se explica con una tasa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julio y agosto el modelo se pasa; desde septiembre se queda corto, y en noviembre por 38%. No es que mate clientes, porque aquí nadie se muere: es demanda estacional. Un BTYD para este negocio necesitaría una tasa que cambie con el calendario, o calibrar con al menos un año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acto: ponemos a competir una regresión logística con x, tₓ y T, y revisamos si la competencia fue 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comparación ingenua favorece a la logística. Sus coeficientes tienen sentido: la recencia pesa más, luego la frecuencia, y T con signo negativo. Pero la competencia no fue justa: el BG/NBD nunca vio nada posterior al 30 de septiembre.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Replicamos lo que sí se podía hacer el 30 de septiembre. La logística ordena un poco mejor, pero el BG/NBD tiene mejor Brier en ambos horizontes. Ojo: a 26 semanas la logística de 39 usada tal cual sale con buen Brier, porque la tasa de 26 semanas (25%) se parece a la de 39 (29%); a 13 semanas se nota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 ganador universal. La logística es excelente para ordenar cuando tienes etiquetas comparables. El BG/NBD brilla cuando necesitas niveles, horizontes distintos o no tienes etiquetas. Y se pueden combinar.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 para llevarse. Volviendo al gerente del 30 de septiembre: su pregunta no era quién sigue vivo, sino quién va a comprar y cuánto. Gracias; todo el código está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D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O">
    <p:bg>
      <p:bgPr>
        <a:solidFill>
          <a:srgbClr val="1D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4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¿Quién sigue vivo? · Modelos BTYD con CDNOW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D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pabloflores465/proyecto2-btyd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¿Quién sigue vivo?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Una historia de 2,357 clientes que nunca dijeron adiós. Modelos Buy 'Til You Die con los datos de CDNOW.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Análisis y Ciencia de Datos · Universidad del Istmo · 29 de octubre de 2026</a:t>
            </a:r>
            <a:endParaRPr lang="en-US" sz="1400" dirty="0"/>
          </a:p>
        </p:txBody>
      </p:sp>
      <p:sp>
        <p:nvSpPr>
          <p:cNvPr id="5" name="disco"/>
          <p:cNvSpPr/>
          <p:nvPr/>
        </p:nvSpPr>
        <p:spPr>
          <a:xfrm>
            <a:off x="8595360" y="1463040"/>
            <a:ext cx="2926080" cy="2926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disco" descr="Disco compa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30 de septiembre de 1997</a:t>
            </a:r>
            <a:endParaRPr lang="en-US" sz="3600" dirty="0"/>
          </a:p>
        </p:txBody>
      </p:sp>
      <p:sp>
        <p:nvSpPr>
          <p:cNvPr id="3" name="relato"/>
          <p:cNvSpPr txBox="1"/>
          <p:nvPr/>
        </p:nvSpPr>
        <p:spPr>
          <a:xfrm>
            <a:off x="548640" y="16459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Eres el gerente de CDNOW, la tienda de discos en línea.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Entre enero y marzo llegaron 2,357 clientes nuevos. Nueve meses después, revisas la base.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accent4"/>
                </a:solidFill>
              </a:rPr>
              <a:t>¿Se fueron? ¿Están de vacaciones? ¿Compran en otro lado?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Nadie te avisó. Una tienda no tiene botón de “cancelar suscripción”.</a:t>
            </a:r>
            <a:endParaRPr lang="en-US" sz="2000" dirty="0"/>
          </a:p>
        </p:txBody>
      </p:sp>
      <p:sp>
        <p:nvSpPr>
          <p:cNvPr id="4" name="tarjeta-gancho"/>
          <p:cNvSpPr/>
          <p:nvPr/>
        </p:nvSpPr>
        <p:spPr>
          <a:xfrm>
            <a:off x="6766560" y="1554480"/>
            <a:ext cx="4846320" cy="4023360"/>
          </a:xfrm>
          <a:prstGeom prst="roundRect">
            <a:avLst>
              <a:gd name="adj" fmla="val 272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cifra-silencio"/>
          <p:cNvSpPr txBox="1"/>
          <p:nvPr/>
        </p:nvSpPr>
        <p:spPr>
          <a:xfrm>
            <a:off x="7223760" y="20116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59.9%</a:t>
            </a:r>
            <a:endParaRPr lang="en-US" sz="8800" dirty="0"/>
          </a:p>
        </p:txBody>
      </p:sp>
      <p:sp>
        <p:nvSpPr>
          <p:cNvPr id="6" name="etiqueta-silencio"/>
          <p:cNvSpPr txBox="1"/>
          <p:nvPr/>
        </p:nvSpPr>
        <p:spPr>
          <a:xfrm>
            <a:off x="722376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 los clientes no volvió a comprar ni una sola vez</a:t>
            </a:r>
            <a:endParaRPr lang="en-US" sz="1800" dirty="0"/>
          </a:p>
        </p:txBody>
      </p:sp>
      <p:sp>
        <p:nvSpPr>
          <p:cNvPr id="7" name="fuente-silencio"/>
          <p:cNvSpPr txBox="1"/>
          <p:nvPr/>
        </p:nvSpPr>
        <p:spPr>
          <a:xfrm>
            <a:off x="722376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1,411 de 2,357 · calibración de 39 semanas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Dos preguntas que valen dinero</a:t>
            </a:r>
            <a:endParaRPr lang="en-US" sz="3600" dirty="0"/>
          </a:p>
        </p:txBody>
      </p:sp>
      <p:sp>
        <p:nvSpPr>
          <p:cNvPr id="3" name="tarjeta-pregunta0"/>
          <p:cNvSpPr/>
          <p:nvPr/>
        </p:nvSpPr>
        <p:spPr>
          <a:xfrm>
            <a:off x="548640" y="15544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circulo-pregunta0"/>
          <p:cNvSpPr/>
          <p:nvPr/>
        </p:nvSpPr>
        <p:spPr>
          <a:xfrm>
            <a:off x="914400" y="1920240"/>
            <a:ext cx="1005840" cy="1005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cono-pregunta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181758"/>
            <a:ext cx="482803" cy="482803"/>
          </a:xfrm>
          <a:prstGeom prst="rect">
            <a:avLst/>
          </a:prstGeom>
        </p:spPr>
      </p:pic>
      <p:sp>
        <p:nvSpPr>
          <p:cNvPr id="6" name="pregunta-titulo0"/>
          <p:cNvSpPr txBox="1"/>
          <p:nvPr/>
        </p:nvSpPr>
        <p:spPr>
          <a:xfrm>
            <a:off x="21945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¿Cuántas compras harán?</a:t>
            </a:r>
            <a:endParaRPr lang="en-US" sz="2200" dirty="0"/>
          </a:p>
        </p:txBody>
      </p:sp>
      <p:sp>
        <p:nvSpPr>
          <p:cNvPr id="7" name="pregunta-texto0"/>
          <p:cNvSpPr txBox="1"/>
          <p:nvPr/>
        </p:nvSpPr>
        <p:spPr>
          <a:xfrm>
            <a:off x="219456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presupuestar inventario y calcular el valor de vida (CLV) de la base.</a:t>
            </a:r>
            <a:endParaRPr lang="en-US" sz="1600" dirty="0"/>
          </a:p>
        </p:txBody>
      </p:sp>
      <p:sp>
        <p:nvSpPr>
          <p:cNvPr id="8" name="tarjeta-pregunta1"/>
          <p:cNvSpPr/>
          <p:nvPr/>
        </p:nvSpPr>
        <p:spPr>
          <a:xfrm>
            <a:off x="6263640" y="15544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circulo-pregunta1"/>
          <p:cNvSpPr/>
          <p:nvPr/>
        </p:nvSpPr>
        <p:spPr>
          <a:xfrm>
            <a:off x="6629400" y="1920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o-pregunta1" descr="FaHeartb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18" y="2181758"/>
            <a:ext cx="482803" cy="482803"/>
          </a:xfrm>
          <a:prstGeom prst="rect">
            <a:avLst/>
          </a:prstGeom>
        </p:spPr>
      </p:pic>
      <p:sp>
        <p:nvSpPr>
          <p:cNvPr id="11" name="pregunta-titulo1"/>
          <p:cNvSpPr txBox="1"/>
          <p:nvPr/>
        </p:nvSpPr>
        <p:spPr>
          <a:xfrm>
            <a:off x="79095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¿Quiénes siguen “vivos”?</a:t>
            </a:r>
            <a:endParaRPr lang="en-US" sz="2200" dirty="0"/>
          </a:p>
        </p:txBody>
      </p:sp>
      <p:sp>
        <p:nvSpPr>
          <p:cNvPr id="12" name="pregunta-texto1"/>
          <p:cNvSpPr txBox="1"/>
          <p:nvPr/>
        </p:nvSpPr>
        <p:spPr>
          <a:xfrm>
            <a:off x="790956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decidir a quién mandarle una promoción y a quién darlo por perdido.</a:t>
            </a:r>
            <a:endParaRPr lang="en-US" sz="1600" dirty="0"/>
          </a:p>
        </p:txBody>
      </p:sp>
      <p:sp>
        <p:nvSpPr>
          <p:cNvPr id="13" name="tres-numeros"/>
          <p:cNvSpPr txBox="1"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 solo tenemos tres números por cliente:</a:t>
            </a:r>
            <a:endParaRPr lang="en-US" sz="1800" dirty="0"/>
          </a:p>
        </p:txBody>
      </p:sp>
      <p:sp>
        <p:nvSpPr>
          <p:cNvPr id="14" name="tarjeta-numero0"/>
          <p:cNvSpPr/>
          <p:nvPr/>
        </p:nvSpPr>
        <p:spPr>
          <a:xfrm>
            <a:off x="548640" y="4892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15" name="simbolo0"/>
          <p:cNvSpPr txBox="1"/>
          <p:nvPr/>
        </p:nvSpPr>
        <p:spPr>
          <a:xfrm>
            <a:off x="82296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4000" dirty="0"/>
          </a:p>
        </p:txBody>
      </p:sp>
      <p:sp>
        <p:nvSpPr>
          <p:cNvPr id="16" name="numero-texto0"/>
          <p:cNvSpPr txBox="1"/>
          <p:nvPr/>
        </p:nvSpPr>
        <p:spPr>
          <a:xfrm>
            <a:off x="1645920" y="5029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frecuencia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compras repetidas</a:t>
            </a:r>
            <a:endParaRPr lang="en-US" sz="1600" dirty="0"/>
          </a:p>
        </p:txBody>
      </p:sp>
      <p:sp>
        <p:nvSpPr>
          <p:cNvPr id="17" name="tarjeta-numero1"/>
          <p:cNvSpPr/>
          <p:nvPr/>
        </p:nvSpPr>
        <p:spPr>
          <a:xfrm>
            <a:off x="4343400" y="4892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18" name="simbolo1"/>
          <p:cNvSpPr txBox="1"/>
          <p:nvPr/>
        </p:nvSpPr>
        <p:spPr>
          <a:xfrm>
            <a:off x="461772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tₓ</a:t>
            </a:r>
            <a:endParaRPr lang="en-US" sz="4000" dirty="0"/>
          </a:p>
        </p:txBody>
      </p:sp>
      <p:sp>
        <p:nvSpPr>
          <p:cNvPr id="19" name="numero-texto1"/>
          <p:cNvSpPr txBox="1"/>
          <p:nvPr/>
        </p:nvSpPr>
        <p:spPr>
          <a:xfrm>
            <a:off x="5440680" y="5029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recencia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momento de la última compra</a:t>
            </a:r>
            <a:endParaRPr lang="en-US" sz="1600" dirty="0"/>
          </a:p>
        </p:txBody>
      </p:sp>
      <p:sp>
        <p:nvSpPr>
          <p:cNvPr id="20" name="tarjeta-numero2"/>
          <p:cNvSpPr/>
          <p:nvPr/>
        </p:nvSpPr>
        <p:spPr>
          <a:xfrm>
            <a:off x="8138160" y="4892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21" name="simbolo2"/>
          <p:cNvSpPr txBox="1"/>
          <p:nvPr/>
        </p:nvSpPr>
        <p:spPr>
          <a:xfrm>
            <a:off x="841248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22" name="numero-texto2"/>
          <p:cNvSpPr txBox="1"/>
          <p:nvPr/>
        </p:nvSpPr>
        <p:spPr>
          <a:xfrm>
            <a:off x="9235440" y="5029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edad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tiempo desde la primera compra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3"/>
                </a:solidFill>
              </a:rPr>
              <a:t>ACTO 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Construir el modelo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Una idea simple: compras al azar mientras estás vivo y un día te vas sin avisar.</a:t>
            </a:r>
            <a:endParaRPr lang="en-US" sz="2000" dirty="0"/>
          </a:p>
        </p:txBody>
      </p:sp>
      <p:sp>
        <p:nvSpPr>
          <p:cNvPr id="5" name="circulo-actoI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actoI" descr="Fa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121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Cada cliente: compras al azar y un adiós</a:t>
            </a:r>
            <a:endParaRPr lang="en-US" sz="3600" dirty="0"/>
          </a:p>
        </p:txBody>
      </p:sp>
      <p:sp>
        <p:nvSpPr>
          <p:cNvPr id="3" name="eje-tiempo"/>
          <p:cNvSpPr/>
          <p:nvPr/>
        </p:nvSpPr>
        <p:spPr>
          <a:xfrm>
            <a:off x="914400" y="2651760"/>
            <a:ext cx="9875520" cy="0"/>
          </a:xfrm>
          <a:prstGeom prst="line">
            <a:avLst/>
          </a:prstGeom>
          <a:noFill/>
          <a:ln w="25400">
            <a:solidFill>
              <a:srgbClr val="5C6B8A"/>
            </a:solidFill>
            <a:prstDash val="solid"/>
          </a:ln>
        </p:spPr>
      </p:sp>
      <p:sp>
        <p:nvSpPr>
          <p:cNvPr id="4" name="compra0"/>
          <p:cNvSpPr/>
          <p:nvPr/>
        </p:nvSpPr>
        <p:spPr>
          <a:xfrm>
            <a:off x="758952" y="2496312"/>
            <a:ext cx="310896" cy="310896"/>
          </a:xfrm>
          <a:prstGeom prst="ellipse">
            <a:avLst/>
          </a:prstGeom>
          <a:solidFill>
            <a:srgbClr val="5C6B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compra1"/>
          <p:cNvSpPr/>
          <p:nvPr/>
        </p:nvSpPr>
        <p:spPr>
          <a:xfrm>
            <a:off x="2770632" y="2496312"/>
            <a:ext cx="310896" cy="31089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compra2"/>
          <p:cNvSpPr/>
          <p:nvPr/>
        </p:nvSpPr>
        <p:spPr>
          <a:xfrm>
            <a:off x="4507992" y="2496312"/>
            <a:ext cx="310896" cy="31089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ompra3"/>
          <p:cNvSpPr/>
          <p:nvPr/>
        </p:nvSpPr>
        <p:spPr>
          <a:xfrm>
            <a:off x="6793992" y="2496312"/>
            <a:ext cx="310896" cy="31089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rotulo-inicio"/>
          <p:cNvSpPr txBox="1"/>
          <p:nvPr/>
        </p:nvSpPr>
        <p:spPr>
          <a:xfrm>
            <a:off x="5486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primera compra (t = 0)</a:t>
            </a:r>
            <a:endParaRPr lang="en-US" sz="1200" dirty="0"/>
          </a:p>
        </p:txBody>
      </p:sp>
      <p:sp>
        <p:nvSpPr>
          <p:cNvPr id="9" name="rotulo-tx"/>
          <p:cNvSpPr txBox="1"/>
          <p:nvPr/>
        </p:nvSpPr>
        <p:spPr>
          <a:xfrm>
            <a:off x="612648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última compra, tₓ</a:t>
            </a:r>
            <a:endParaRPr lang="en-US" sz="1200" dirty="0"/>
          </a:p>
        </p:txBody>
      </p:sp>
      <p:sp>
        <p:nvSpPr>
          <p:cNvPr id="10" name="rotulo-T"/>
          <p:cNvSpPr txBox="1"/>
          <p:nvPr/>
        </p:nvSpPr>
        <p:spPr>
          <a:xfrm>
            <a:off x="932688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fin de calibración, T</a:t>
            </a:r>
            <a:endParaRPr lang="en-US" sz="1200" dirty="0"/>
          </a:p>
        </p:txBody>
      </p:sp>
      <p:sp>
        <p:nvSpPr>
          <p:cNvPr id="11" name="marca-T"/>
          <p:cNvSpPr/>
          <p:nvPr/>
        </p:nvSpPr>
        <p:spPr>
          <a:xfrm>
            <a:off x="10789920" y="2331720"/>
            <a:ext cx="0" cy="640080"/>
          </a:xfrm>
          <a:prstGeom prst="line">
            <a:avLst/>
          </a:prstGeom>
          <a:noFill/>
          <a:ln w="25400">
            <a:solidFill>
              <a:srgbClr val="1D2333"/>
            </a:solidFill>
            <a:prstDash val="solid"/>
          </a:ln>
        </p:spPr>
      </p:sp>
      <p:sp>
        <p:nvSpPr>
          <p:cNvPr id="12" name="rotulo-x"/>
          <p:cNvSpPr txBox="1"/>
          <p:nvPr/>
        </p:nvSpPr>
        <p:spPr>
          <a:xfrm>
            <a:off x="27432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x = 3 compras repetidas</a:t>
            </a:r>
            <a:endParaRPr lang="en-US" sz="1400" dirty="0"/>
          </a:p>
        </p:txBody>
      </p:sp>
      <p:sp>
        <p:nvSpPr>
          <p:cNvPr id="13" name="rotulo-silencio"/>
          <p:cNvSpPr txBox="1"/>
          <p:nvPr/>
        </p:nvSpPr>
        <p:spPr>
          <a:xfrm>
            <a:off x="7589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¿silencio = muerte?</a:t>
            </a:r>
            <a:endParaRPr lang="en-US" sz="1400" dirty="0"/>
          </a:p>
        </p:txBody>
      </p:sp>
      <p:sp>
        <p:nvSpPr>
          <p:cNvPr id="14" name="circulo-pieza0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5" name="icono-pieza0" descr="FaShoppingC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4271162"/>
            <a:ext cx="373075" cy="373075"/>
          </a:xfrm>
          <a:prstGeom prst="rect">
            <a:avLst/>
          </a:prstGeom>
        </p:spPr>
      </p:pic>
      <p:sp>
        <p:nvSpPr>
          <p:cNvPr id="16" name="pieza-titulo0"/>
          <p:cNvSpPr txBox="1"/>
          <p:nvPr/>
        </p:nvSpPr>
        <p:spPr>
          <a:xfrm>
            <a:off x="150876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Compra</a:t>
            </a:r>
            <a:endParaRPr lang="en-US" sz="1800" dirty="0"/>
          </a:p>
        </p:txBody>
      </p:sp>
      <p:sp>
        <p:nvSpPr>
          <p:cNvPr id="17" name="pieza-texto0"/>
          <p:cNvSpPr txBox="1"/>
          <p:nvPr/>
        </p:nvSpPr>
        <p:spPr>
          <a:xfrm>
            <a:off x="1508760" y="44805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Mientras vive, compra según un proceso de Poisson con tasa λ.</a:t>
            </a:r>
            <a:endParaRPr lang="en-US" sz="1500" dirty="0"/>
          </a:p>
        </p:txBody>
      </p:sp>
      <p:sp>
        <p:nvSpPr>
          <p:cNvPr id="18" name="circulo-pieza1"/>
          <p:cNvSpPr/>
          <p:nvPr/>
        </p:nvSpPr>
        <p:spPr>
          <a:xfrm>
            <a:off x="4343400" y="4069080"/>
            <a:ext cx="777240" cy="7772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9" name="icono-pieza1" descr="FaUserSl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4271162"/>
            <a:ext cx="373075" cy="373075"/>
          </a:xfrm>
          <a:prstGeom prst="rect">
            <a:avLst/>
          </a:prstGeom>
        </p:spPr>
      </p:pic>
      <p:sp>
        <p:nvSpPr>
          <p:cNvPr id="20" name="pieza-titulo1"/>
          <p:cNvSpPr txBox="1"/>
          <p:nvPr/>
        </p:nvSpPr>
        <p:spPr>
          <a:xfrm>
            <a:off x="5303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Muerte</a:t>
            </a:r>
            <a:endParaRPr lang="en-US" sz="1800" dirty="0"/>
          </a:p>
        </p:txBody>
      </p:sp>
      <p:sp>
        <p:nvSpPr>
          <p:cNvPr id="21" name="pieza-texto1"/>
          <p:cNvSpPr txBox="1"/>
          <p:nvPr/>
        </p:nvSpPr>
        <p:spPr>
          <a:xfrm>
            <a:off x="5303520" y="44805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Justo después de cada recompra se va con probabilidad p.</a:t>
            </a:r>
            <a:endParaRPr lang="en-US" sz="1500" dirty="0"/>
          </a:p>
        </p:txBody>
      </p:sp>
      <p:sp>
        <p:nvSpPr>
          <p:cNvPr id="22" name="circulo-pieza2"/>
          <p:cNvSpPr/>
          <p:nvPr/>
        </p:nvSpPr>
        <p:spPr>
          <a:xfrm>
            <a:off x="8138160" y="4069080"/>
            <a:ext cx="777240" cy="77724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23" name="icono-pieza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242" y="4271162"/>
            <a:ext cx="373075" cy="373075"/>
          </a:xfrm>
          <a:prstGeom prst="rect">
            <a:avLst/>
          </a:prstGeom>
        </p:spPr>
      </p:pic>
      <p:sp>
        <p:nvSpPr>
          <p:cNvPr id="24" name="pieza-titulo2"/>
          <p:cNvSpPr txBox="1"/>
          <p:nvPr/>
        </p:nvSpPr>
        <p:spPr>
          <a:xfrm>
            <a:off x="90982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Heterogeneidad</a:t>
            </a:r>
            <a:endParaRPr lang="en-US" sz="1800" dirty="0"/>
          </a:p>
        </p:txBody>
      </p:sp>
      <p:sp>
        <p:nvSpPr>
          <p:cNvPr id="25" name="pieza-texto2"/>
          <p:cNvSpPr txBox="1"/>
          <p:nvPr/>
        </p:nvSpPr>
        <p:spPr>
          <a:xfrm>
            <a:off x="9098280" y="44805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cliente es distinto: λ ~ Gamma(r, α) y p ~ Beta(a, b).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Dos historias producen los mismos datos</a:t>
            </a:r>
            <a:endParaRPr lang="en-US" sz="3600" dirty="0"/>
          </a:p>
        </p:txBody>
      </p:sp>
      <p:sp>
        <p:nvSpPr>
          <p:cNvPr id="3" name="tarjeta-historia0"/>
          <p:cNvSpPr/>
          <p:nvPr/>
        </p:nvSpPr>
        <p:spPr>
          <a:xfrm>
            <a:off x="548640" y="1508760"/>
            <a:ext cx="5349240" cy="2697480"/>
          </a:xfrm>
          <a:prstGeom prst="roundRect">
            <a:avLst>
              <a:gd name="adj" fmla="val 406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circulo-historia0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cono-historia0" descr="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997050"/>
            <a:ext cx="395021" cy="395021"/>
          </a:xfrm>
          <a:prstGeom prst="rect">
            <a:avLst/>
          </a:prstGeom>
        </p:spPr>
      </p:pic>
      <p:sp>
        <p:nvSpPr>
          <p:cNvPr id="6" name="historia-titulo0"/>
          <p:cNvSpPr txBox="1"/>
          <p:nvPr/>
        </p:nvSpPr>
        <p:spPr>
          <a:xfrm>
            <a:off x="187452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Sigue vivo en T</a:t>
            </a:r>
            <a:endParaRPr lang="en-US" sz="2000" dirty="0"/>
          </a:p>
        </p:txBody>
      </p:sp>
      <p:sp>
        <p:nvSpPr>
          <p:cNvPr id="7" name="historia-texto0"/>
          <p:cNvSpPr txBox="1"/>
          <p:nvPr/>
        </p:nvSpPr>
        <p:spPr>
          <a:xfrm>
            <a:off x="86868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Sobrevivió sus x compras y simplemente no compró después.</a:t>
            </a:r>
            <a:endParaRPr lang="en-US" sz="1600" dirty="0"/>
          </a:p>
        </p:txBody>
      </p:sp>
      <p:sp>
        <p:nvSpPr>
          <p:cNvPr id="8" name="historia-formula0"/>
          <p:cNvSpPr txBox="1"/>
          <p:nvPr/>
        </p:nvSpPr>
        <p:spPr>
          <a:xfrm>
            <a:off x="8686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(1 − p)ˣ · λˣ · e^(−λT)</a:t>
            </a:r>
            <a:endParaRPr lang="en-US" sz="1800" dirty="0"/>
          </a:p>
        </p:txBody>
      </p:sp>
      <p:sp>
        <p:nvSpPr>
          <p:cNvPr id="9" name="tarjeta-historia1"/>
          <p:cNvSpPr/>
          <p:nvPr/>
        </p:nvSpPr>
        <p:spPr>
          <a:xfrm>
            <a:off x="6263640" y="1508760"/>
            <a:ext cx="5349240" cy="2697480"/>
          </a:xfrm>
          <a:prstGeom prst="roundRect">
            <a:avLst>
              <a:gd name="adj" fmla="val 406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circulo-historia1"/>
          <p:cNvSpPr/>
          <p:nvPr/>
        </p:nvSpPr>
        <p:spPr>
          <a:xfrm>
            <a:off x="6583680" y="178308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1" name="icono-historia1" descr="FaUserSl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50" y="1997050"/>
            <a:ext cx="395021" cy="395021"/>
          </a:xfrm>
          <a:prstGeom prst="rect">
            <a:avLst/>
          </a:prstGeom>
        </p:spPr>
      </p:pic>
      <p:sp>
        <p:nvSpPr>
          <p:cNvPr id="12" name="historia-titulo1"/>
          <p:cNvSpPr txBox="1"/>
          <p:nvPr/>
        </p:nvSpPr>
        <p:spPr>
          <a:xfrm>
            <a:off x="758952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Murió tras su última compra</a:t>
            </a:r>
            <a:endParaRPr lang="en-US" sz="2000" dirty="0"/>
          </a:p>
        </p:txBody>
      </p:sp>
      <p:sp>
        <p:nvSpPr>
          <p:cNvPr id="13" name="historia-texto1"/>
          <p:cNvSpPr txBox="1"/>
          <p:nvPr/>
        </p:nvSpPr>
        <p:spPr>
          <a:xfrm>
            <a:off x="658368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Sobrevivió x − 1 compras y se fue justo después de la última.</a:t>
            </a:r>
            <a:endParaRPr lang="en-US" sz="1600" dirty="0"/>
          </a:p>
        </p:txBody>
      </p:sp>
      <p:sp>
        <p:nvSpPr>
          <p:cNvPr id="14" name="historia-formula1"/>
          <p:cNvSpPr txBox="1"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(1 − p)ˣ⁻¹ · λˣ · e^(−λtₓ)</a:t>
            </a:r>
            <a:endParaRPr lang="en-US" sz="1800" dirty="0"/>
          </a:p>
        </p:txBody>
      </p:sp>
      <p:sp>
        <p:nvSpPr>
          <p:cNvPr id="15" name="tarjeta-pista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16" name="circulo-pista"/>
          <p:cNvSpPr/>
          <p:nvPr/>
        </p:nvSpPr>
        <p:spPr>
          <a:xfrm>
            <a:off x="868680" y="4864608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cono-pista" descr="Fa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5078578"/>
            <a:ext cx="395021" cy="395021"/>
          </a:xfrm>
          <a:prstGeom prst="rect">
            <a:avLst/>
          </a:prstGeom>
        </p:spPr>
      </p:pic>
      <p:sp>
        <p:nvSpPr>
          <p:cNvPr id="18" name="pista-texto"/>
          <p:cNvSpPr txBox="1"/>
          <p:nvPr/>
        </p:nvSpPr>
        <p:spPr>
          <a:xfrm>
            <a:off x="1920240" y="470916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Si x = 0, la historia B no existe.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Sin recompras no hubo oportunidad de morir: el modelo da a esos clientes por vivos con certeza. Guarden este detalle: vuelve en el tercer acto.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Antes de creerle, lo probamos con datos inventados</a:t>
            </a:r>
            <a:endParaRPr lang="en-US" sz="3600" dirty="0"/>
          </a:p>
        </p:txBody>
      </p:sp>
      <p:sp>
        <p:nvSpPr>
          <p:cNvPr id="3" name="sim-intro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Simulamos 50 mundos de 2,357 clientes con parámetros que nosotros escogimos y estimamos con nuestro código. Error relativo típico (coeficiente de variación) de cada parámetro:</a:t>
            </a:r>
            <a:endParaRPr lang="en-US" sz="1600" dirty="0"/>
          </a:p>
        </p:txBody>
      </p:sp>
      <p:sp>
        <p:nvSpPr>
          <p:cNvPr id="4" name="tarjeta-cv0"/>
          <p:cNvSpPr/>
          <p:nvPr/>
        </p:nvSpPr>
        <p:spPr>
          <a:xfrm>
            <a:off x="54864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cv-cifra0"/>
          <p:cNvSpPr txBox="1"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5400" dirty="0"/>
          </a:p>
        </p:txBody>
      </p:sp>
      <p:sp>
        <p:nvSpPr>
          <p:cNvPr id="6" name="cv-texto0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forma de la tasa de compra</a:t>
            </a:r>
            <a:endParaRPr lang="en-US" sz="1800" dirty="0"/>
          </a:p>
        </p:txBody>
      </p:sp>
      <p:sp>
        <p:nvSpPr>
          <p:cNvPr id="7" name="tarjeta-cv1"/>
          <p:cNvSpPr/>
          <p:nvPr/>
        </p:nvSpPr>
        <p:spPr>
          <a:xfrm>
            <a:off x="338328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cv-cifra1"/>
          <p:cNvSpPr txBox="1"/>
          <p:nvPr/>
        </p:nvSpPr>
        <p:spPr>
          <a:xfrm>
            <a:off x="365760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5400" dirty="0"/>
          </a:p>
        </p:txBody>
      </p:sp>
      <p:sp>
        <p:nvSpPr>
          <p:cNvPr id="9" name="cv-texto1"/>
          <p:cNvSpPr txBox="1"/>
          <p:nvPr/>
        </p:nvSpPr>
        <p:spPr>
          <a:xfrm>
            <a:off x="365760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α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escala de la tasa de compra</a:t>
            </a:r>
            <a:endParaRPr lang="en-US" sz="1800" dirty="0"/>
          </a:p>
        </p:txBody>
      </p:sp>
      <p:sp>
        <p:nvSpPr>
          <p:cNvPr id="10" name="tarjeta-cv2"/>
          <p:cNvSpPr/>
          <p:nvPr/>
        </p:nvSpPr>
        <p:spPr>
          <a:xfrm>
            <a:off x="621792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cv-cifra2"/>
          <p:cNvSpPr txBox="1"/>
          <p:nvPr/>
        </p:nvSpPr>
        <p:spPr>
          <a:xfrm>
            <a:off x="649224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5400" dirty="0"/>
          </a:p>
        </p:txBody>
      </p:sp>
      <p:sp>
        <p:nvSpPr>
          <p:cNvPr id="12" name="cv-texto2"/>
          <p:cNvSpPr txBox="1"/>
          <p:nvPr/>
        </p:nvSpPr>
        <p:spPr>
          <a:xfrm>
            <a:off x="64922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beta de la muerte</a:t>
            </a:r>
            <a:endParaRPr lang="en-US" sz="1800" dirty="0"/>
          </a:p>
        </p:txBody>
      </p:sp>
      <p:sp>
        <p:nvSpPr>
          <p:cNvPr id="13" name="tarjeta-cv3"/>
          <p:cNvSpPr/>
          <p:nvPr/>
        </p:nvSpPr>
        <p:spPr>
          <a:xfrm>
            <a:off x="9052560" y="22860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cv-cifra3"/>
          <p:cNvSpPr txBox="1"/>
          <p:nvPr/>
        </p:nvSpPr>
        <p:spPr>
          <a:xfrm>
            <a:off x="932688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5400" dirty="0"/>
          </a:p>
        </p:txBody>
      </p:sp>
      <p:sp>
        <p:nvSpPr>
          <p:cNvPr id="15" name="cv-texto3"/>
          <p:cNvSpPr txBox="1"/>
          <p:nvPr/>
        </p:nvSpPr>
        <p:spPr>
          <a:xfrm>
            <a:off x="93268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beta de la muerte</a:t>
            </a:r>
            <a:endParaRPr lang="en-US" sz="1800" dirty="0"/>
          </a:p>
        </p:txBody>
      </p:sp>
      <p:sp>
        <p:nvSpPr>
          <p:cNvPr id="16" name="circulo-sim-ok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7" name="icono-sim-o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161788"/>
            <a:ext cx="329184" cy="329184"/>
          </a:xfrm>
          <a:prstGeom prst="rect">
            <a:avLst/>
          </a:prstGeom>
        </p:spPr>
      </p:pic>
      <p:sp>
        <p:nvSpPr>
          <p:cNvPr id="18" name="sim-ok-texto"/>
          <p:cNvSpPr txBox="1"/>
          <p:nvPr/>
        </p:nvSpPr>
        <p:spPr>
          <a:xfrm>
            <a:off x="1417320" y="49377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 recuperan los cuatro parámetros.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medias quedan a menos de un error estándar del valor real y los intervalos cubren el valor real el 92–96% de las veces.</a:t>
            </a:r>
            <a:endParaRPr lang="en-US" sz="1500" dirty="0"/>
          </a:p>
        </p:txBody>
      </p:sp>
      <p:sp>
        <p:nvSpPr>
          <p:cNvPr id="19" name="circulo-sim-silencio"/>
          <p:cNvSpPr/>
          <p:nvPr/>
        </p:nvSpPr>
        <p:spPr>
          <a:xfrm>
            <a:off x="6263640" y="498348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o-sim-silencio" descr="FaVolumeM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5161788"/>
            <a:ext cx="329184" cy="329184"/>
          </a:xfrm>
          <a:prstGeom prst="rect">
            <a:avLst/>
          </a:prstGeom>
        </p:spPr>
      </p:pic>
      <p:sp>
        <p:nvSpPr>
          <p:cNvPr id="21" name="sim-silencio-texto"/>
          <p:cNvSpPr txBox="1"/>
          <p:nvPr/>
        </p:nvSpPr>
        <p:spPr>
          <a:xfrm>
            <a:off x="7132320" y="49377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muerte es difícil de medir.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clientes que no recompran no dicen nada sobre a y b; solo la aprendemos del silencio de los recompradores.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 CDNOW, reproducimos el artículo al decimal</a:t>
            </a:r>
            <a:endParaRPr lang="en-US" sz="3600" dirty="0"/>
          </a:p>
        </p:txBody>
      </p:sp>
      <p:graphicFrame>
        <p:nvGraphicFramePr>
          <p:cNvPr id="9" name="tabla-estim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  <a:gridCol w="1371600"/>
                <a:gridCol w="1371600"/>
                <a:gridCol w="246888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α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log-verosimilitud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D29"/>
                          </a:solidFill>
                        </a:rPr>
                        <a:t>Nuestro código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0.2426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4.4136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0.7929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2.4259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−9,582.43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D29"/>
                          </a:solidFill>
                        </a:rPr>
                        <a:t>Fader, Hardie y Lee (2005)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0.243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4.414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0.793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2.426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−9,582.4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D29"/>
                          </a:solidFill>
                        </a:rPr>
                        <a:t>Error estándar (bootstrap)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0.014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0.45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0.18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D29"/>
                          </a:solidFill>
                        </a:rPr>
                        <a:t>0.71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irculo-chk0"/>
          <p:cNvSpPr/>
          <p:nvPr/>
        </p:nvSpPr>
        <p:spPr>
          <a:xfrm>
            <a:off x="548640" y="4663440"/>
            <a:ext cx="822960" cy="82296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5" name="icono-chk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4877410"/>
            <a:ext cx="395021" cy="395021"/>
          </a:xfrm>
          <a:prstGeom prst="rect">
            <a:avLst/>
          </a:prstGeom>
        </p:spPr>
      </p:pic>
      <p:sp>
        <p:nvSpPr>
          <p:cNvPr id="6" name="chk-texto0"/>
          <p:cNvSpPr txBox="1"/>
          <p:nvPr/>
        </p:nvSpPr>
        <p:spPr>
          <a:xfrm>
            <a:off x="1600200" y="4663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Cinco de seis arranques llegan al mismo óptimo; el sexto se perdió (a → 0) con una verosimilitud 181 puntos peor.</a:t>
            </a:r>
            <a:endParaRPr lang="en-US" sz="1700" dirty="0"/>
          </a:p>
        </p:txBody>
      </p:sp>
      <p:sp>
        <p:nvSpPr>
          <p:cNvPr id="7" name="circulo-chk1"/>
          <p:cNvSpPr/>
          <p:nvPr/>
        </p:nvSpPr>
        <p:spPr>
          <a:xfrm>
            <a:off x="6263640" y="4663440"/>
            <a:ext cx="822960" cy="82296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8" name="icono-chk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610" y="4877410"/>
            <a:ext cx="395021" cy="395021"/>
          </a:xfrm>
          <a:prstGeom prst="rect">
            <a:avLst/>
          </a:prstGeom>
        </p:spPr>
      </p:pic>
      <p:sp>
        <p:nvSpPr>
          <p:cNvPr id="9" name="chk-texto1"/>
          <p:cNvSpPr txBox="1"/>
          <p:nvPr/>
        </p:nvSpPr>
        <p:spPr>
          <a:xfrm>
            <a:off x="7315200" y="4663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Bootstrap ≈ hessiano ≈ simulación para a y b: la simulación fue un buen ensayo del problema real.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Los clientes son muy distintos entre sí</a:t>
            </a:r>
            <a:endParaRPr lang="en-US" sz="3600" dirty="0"/>
          </a:p>
        </p:txBody>
      </p:sp>
      <p:graphicFrame>
        <p:nvGraphicFramePr>
          <p:cNvPr id="3" name="grafica-lambda" descr=""/>
          <p:cNvGraphicFramePr/>
          <p:nvPr/>
        </p:nvGraphicFramePr>
        <p:xfrm>
          <a:off x="548640" y="14173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grafica-p" descr=""/>
          <p:cNvGraphicFramePr/>
          <p:nvPr/>
        </p:nvGraphicFramePr>
        <p:xfrm>
          <a:off x="6172200" y="14173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lectura-lambda"/>
          <p:cNvSpPr txBox="1"/>
          <p:nvPr/>
        </p:nvSpPr>
        <p:spPr>
          <a:xfrm>
            <a:off x="54864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2.9 compras al año en promedio…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pero la mitad compra menos de una vez cada dos años. Unos pocos clientes muy activos jalan la media.</a:t>
            </a:r>
            <a:endParaRPr lang="en-US" sz="1600" dirty="0"/>
          </a:p>
        </p:txBody>
      </p:sp>
      <p:sp>
        <p:nvSpPr>
          <p:cNvPr id="6" name="lectura-p"/>
          <p:cNvSpPr txBox="1"/>
          <p:nvPr/>
        </p:nvSpPr>
        <p:spPr>
          <a:xfrm>
            <a:off x="617220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Uno de cada cuatro se va tras cada recompra.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Muchos son muy leales (p cerca de 0) y hay una cola de clientes que casi seguro se van.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3"/>
                </a:solidFill>
              </a:rPr>
              <a:t>ACTO II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Pronosticar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¿Cuántas compras vienen? Desde abajo, cliente por cliente, o desde arriba, con la serie de tiempo.</a:t>
            </a:r>
            <a:endParaRPr lang="en-US" sz="2000" dirty="0"/>
          </a:p>
        </p:txBody>
      </p:sp>
      <p:sp>
        <p:nvSpPr>
          <p:cNvPr id="5" name="circulo-actoII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actoII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121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Cliente por cliente, la curva casi no se despega</a:t>
            </a:r>
            <a:endParaRPr lang="en-US" sz="3600" dirty="0"/>
          </a:p>
        </p:txBody>
      </p:sp>
      <p:graphicFrame>
        <p:nvGraphicFramePr>
          <p:cNvPr id="3" name="grafica-acumulada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semana78"/>
          <p:cNvSpPr/>
          <p:nvPr/>
        </p:nvSpPr>
        <p:spPr>
          <a:xfrm>
            <a:off x="8412480" y="146304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cifra-78"/>
          <p:cNvSpPr txBox="1"/>
          <p:nvPr/>
        </p:nvSpPr>
        <p:spPr>
          <a:xfrm>
            <a:off x="868680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−4.0%</a:t>
            </a:r>
            <a:endParaRPr lang="en-US" sz="5400" dirty="0"/>
          </a:p>
        </p:txBody>
      </p:sp>
      <p:sp>
        <p:nvSpPr>
          <p:cNvPr id="6" name="etiqueta-78"/>
          <p:cNvSpPr txBox="1"/>
          <p:nvPr/>
        </p:nvSpPr>
        <p:spPr>
          <a:xfrm>
            <a:off x="868680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error en la semana 78: 4,166 vs 4,339 compras. El mismo −4% del artículo.</a:t>
            </a:r>
            <a:endParaRPr lang="en-US" sz="1400" dirty="0"/>
          </a:p>
        </p:txBody>
      </p:sp>
      <p:sp>
        <p:nvSpPr>
          <p:cNvPr id="7" name="nota-bottom-up"/>
          <p:cNvSpPr txBox="1"/>
          <p:nvPr/>
        </p:nvSpPr>
        <p:spPr>
          <a:xfrm>
            <a:off x="841248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usamos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x, tₓ, 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y la fecha de primera compra de cada cliente. Las semanas 1–39 calibran; las 40–78 nunca las vio.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rival top-down depende de su ventana</a:t>
            </a:r>
            <a:endParaRPr lang="en-US" sz="3600" dirty="0"/>
          </a:p>
        </p:txBody>
      </p:sp>
      <p:graphicFrame>
        <p:nvGraphicFramePr>
          <p:cNvPr id="3" name="grafica-topdown" descr=""/>
          <p:cNvGraphicFramePr/>
          <p:nvPr/>
        </p:nvGraphicFramePr>
        <p:xfrm>
          <a:off x="548640" y="137160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ctura-topdown"/>
          <p:cNvSpPr txBox="1"/>
          <p:nvPr/>
        </p:nvSpPr>
        <p:spPr>
          <a:xfrm>
            <a:off x="7863840" y="164592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misma tendencia lineal da −50%, +29% o −7% según desde qué semana se ajuste.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Elegir la ventana ganadora después de ver el resultado es hacer trampa.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El BG/NBD no tiene ventanas que escoger y queda segundo en error semanal (MAE 9.8).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 que la serie agregada no puede saber</a:t>
            </a:r>
            <a:endParaRPr lang="en-US" sz="3600" dirty="0"/>
          </a:p>
        </p:txBody>
      </p:sp>
      <p:graphicFrame>
        <p:nvGraphicFramePr>
          <p:cNvPr id="3" name="grafica-primeras-semanas" descr=""/>
          <p:cNvGraphicFramePr/>
          <p:nvPr/>
        </p:nvGraphicFramePr>
        <p:xfrm>
          <a:off x="548640" y="137160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irculo-formacion"/>
          <p:cNvSpPr/>
          <p:nvPr/>
        </p:nvSpPr>
        <p:spPr>
          <a:xfrm>
            <a:off x="8229600" y="155448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o-formacion" descr="FaUser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795" y="1744675"/>
            <a:ext cx="351130" cy="351130"/>
          </a:xfrm>
          <a:prstGeom prst="rect">
            <a:avLst/>
          </a:prstGeom>
        </p:spPr>
      </p:pic>
      <p:sp>
        <p:nvSpPr>
          <p:cNvPr id="6" name="formacion-texto"/>
          <p:cNvSpPr txBox="1"/>
          <p:nvPr/>
        </p:nvSpPr>
        <p:spPr>
          <a:xfrm>
            <a:off x="9144000" y="1508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Semanas 1–12: la cohorte se está formando.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recompras suben porque cada semana llegan clientes nuevos.</a:t>
            </a:r>
            <a:endParaRPr lang="en-US" sz="1500" dirty="0"/>
          </a:p>
        </p:txBody>
      </p:sp>
      <p:sp>
        <p:nvSpPr>
          <p:cNvPr id="7" name="circulo-cerrada"/>
          <p:cNvSpPr/>
          <p:nvPr/>
        </p:nvSpPr>
        <p:spPr>
          <a:xfrm>
            <a:off x="8229600" y="3520440"/>
            <a:ext cx="731520" cy="731520"/>
          </a:xfrm>
          <a:prstGeom prst="ellipse">
            <a:avLst/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pic>
        <p:nvPicPr>
          <p:cNvPr id="8" name="icono-cerrada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795" y="3710635"/>
            <a:ext cx="351130" cy="351130"/>
          </a:xfrm>
          <a:prstGeom prst="rect">
            <a:avLst/>
          </a:prstGeom>
        </p:spPr>
      </p:pic>
      <p:sp>
        <p:nvSpPr>
          <p:cNvPr id="9" name="cerrada-texto"/>
          <p:cNvSpPr txBox="1"/>
          <p:nvPr/>
        </p:nvSpPr>
        <p:spPr>
          <a:xfrm>
            <a:off x="9144000" y="3474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Desde la semana 13 ya no entra nadie: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cohorte está cerrada y se va muriendo.</a:t>
            </a:r>
            <a:endParaRPr lang="en-US" sz="1500" dirty="0"/>
          </a:p>
        </p:txBody>
      </p:sp>
      <p:sp>
        <p:nvSpPr>
          <p:cNvPr id="10" name="moraleja-cohorte"/>
          <p:cNvSpPr txBox="1"/>
          <p:nvPr/>
        </p:nvSpPr>
        <p:spPr>
          <a:xfrm>
            <a:off x="8229600" y="5029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 método top-down solo ve una serie que sube y baja. El bottom-up conoce la fecha de llegada de cada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 además sabe quién va a comprar</a:t>
            </a:r>
            <a:endParaRPr lang="en-US" sz="3600" dirty="0"/>
          </a:p>
        </p:txBody>
      </p:sp>
      <p:graphicFrame>
        <p:nvGraphicFramePr>
          <p:cNvPr id="3" name="grafica-condicional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irculo-obs0"/>
          <p:cNvSpPr/>
          <p:nvPr/>
        </p:nvSpPr>
        <p:spPr>
          <a:xfrm>
            <a:off x="7863840" y="1508760"/>
            <a:ext cx="685800" cy="6858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cono-obs0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148" y="1687068"/>
            <a:ext cx="329184" cy="329184"/>
          </a:xfrm>
          <a:prstGeom prst="rect">
            <a:avLst/>
          </a:prstGeom>
        </p:spPr>
      </p:pic>
      <p:sp>
        <p:nvSpPr>
          <p:cNvPr id="6" name="obs-texto0"/>
          <p:cNvSpPr txBox="1"/>
          <p:nvPr/>
        </p:nvSpPr>
        <p:spPr>
          <a:xfrm>
            <a:off x="8732520" y="1463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Acierta en el grupo más grande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0: 0.225 pronosticado vs 0.237 real (1,411 clientes).</a:t>
            </a:r>
            <a:endParaRPr lang="en-US" sz="1600" dirty="0"/>
          </a:p>
        </p:txBody>
      </p:sp>
      <p:sp>
        <p:nvSpPr>
          <p:cNvPr id="7" name="circulo-obs1"/>
          <p:cNvSpPr/>
          <p:nvPr/>
        </p:nvSpPr>
        <p:spPr>
          <a:xfrm>
            <a:off x="7863840" y="306324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8" name="icono-obs1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148" y="3241548"/>
            <a:ext cx="329184" cy="329184"/>
          </a:xfrm>
          <a:prstGeom prst="rect">
            <a:avLst/>
          </a:prstGeom>
        </p:spPr>
      </p:pic>
      <p:sp>
        <p:nvSpPr>
          <p:cNvPr id="9" name="obs-texto1"/>
          <p:cNvSpPr txBox="1"/>
          <p:nvPr/>
        </p:nvSpPr>
        <p:spPr>
          <a:xfrm>
            <a:off x="873252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Falla con los de 1 o 2 recompras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subestima 25%: los da por muertos demasiado pronto.</a:t>
            </a:r>
            <a:endParaRPr lang="en-US" sz="1600" dirty="0"/>
          </a:p>
        </p:txBody>
      </p:sp>
      <p:sp>
        <p:nvSpPr>
          <p:cNvPr id="10" name="circulo-obs2"/>
          <p:cNvSpPr/>
          <p:nvPr/>
        </p:nvSpPr>
        <p:spPr>
          <a:xfrm>
            <a:off x="7863840" y="4617720"/>
            <a:ext cx="685800" cy="68580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11" name="icono-obs2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48" y="4796028"/>
            <a:ext cx="329184" cy="329184"/>
          </a:xfrm>
          <a:prstGeom prst="rect">
            <a:avLst/>
          </a:prstGeom>
        </p:spPr>
      </p:pic>
      <p:sp>
        <p:nvSpPr>
          <p:cNvPr id="12" name="obs-texto2"/>
          <p:cNvSpPr txBox="1"/>
          <p:nvPr/>
        </p:nvSpPr>
        <p:spPr>
          <a:xfrm>
            <a:off x="8732520" y="4572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top-down no puede hacerlo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sabe quién compone el total.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3"/>
                </a:solidFill>
              </a:rPr>
              <a:t>ACTO III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El giro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¿Quién sigue vivo? La pregunta que parecía más fácil resultó ser la trampa.</a:t>
            </a:r>
            <a:endParaRPr lang="en-US" sz="2000" dirty="0"/>
          </a:p>
        </p:txBody>
      </p:sp>
      <p:sp>
        <p:nvSpPr>
          <p:cNvPr id="5" name="circulo-actoIII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actoIII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121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P(vivo) clasifica peor que una moneda al aire</a:t>
            </a:r>
            <a:endParaRPr lang="en-US" sz="3600" dirty="0"/>
          </a:p>
        </p:txBody>
      </p:sp>
      <p:sp>
        <p:nvSpPr>
          <p:cNvPr id="3" name="tarjeta-auc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cifra-auc"/>
          <p:cNvSpPr txBox="1"/>
          <p:nvPr/>
        </p:nvSpPr>
        <p:spPr>
          <a:xfrm>
            <a:off x="914400" y="1783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0.316</a:t>
            </a:r>
            <a:endParaRPr lang="en-US" sz="9600" dirty="0"/>
          </a:p>
        </p:txBody>
      </p:sp>
      <p:sp>
        <p:nvSpPr>
          <p:cNvPr id="5" name="etiqueta-auc"/>
          <p:cNvSpPr txBox="1"/>
          <p:nvPr/>
        </p:nvSpPr>
        <p:spPr>
          <a:xfrm>
            <a:off x="91440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AUC de P(vivo) para predecir quién compra en las 39 semanas siguientes</a:t>
            </a:r>
            <a:endParaRPr lang="en-US" sz="1600" dirty="0"/>
          </a:p>
        </p:txBody>
      </p:sp>
      <p:sp>
        <p:nvSpPr>
          <p:cNvPr id="6" name="moneda"/>
          <p:cNvSpPr txBox="1"/>
          <p:nvPr/>
        </p:nvSpPr>
        <p:spPr>
          <a:xfrm>
            <a:off x="9144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Una moneda al aire: 0.500</a:t>
            </a:r>
            <a:endParaRPr lang="en-US" sz="2000" dirty="0"/>
          </a:p>
        </p:txBody>
      </p:sp>
      <p:sp>
        <p:nvSpPr>
          <p:cNvPr id="7" name="tasa-base"/>
          <p:cNvSpPr txBox="1"/>
          <p:nvPr/>
        </p:nvSpPr>
        <p:spPr>
          <a:xfrm>
            <a:off x="91440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Tasa base: 29% de los clientes compró en el holdout.</a:t>
            </a:r>
            <a:endParaRPr lang="en-US" sz="1400" dirty="0"/>
          </a:p>
        </p:txBody>
      </p:sp>
      <p:sp>
        <p:nvSpPr>
          <p:cNvPr id="8" name="conf-cifra0"/>
          <p:cNvSpPr txBox="1"/>
          <p:nvPr/>
        </p:nvSpPr>
        <p:spPr>
          <a:xfrm>
            <a:off x="649224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1,964</a:t>
            </a:r>
            <a:endParaRPr lang="en-US" sz="4400" dirty="0"/>
          </a:p>
        </p:txBody>
      </p:sp>
      <p:sp>
        <p:nvSpPr>
          <p:cNvPr id="9" name="conf-texto0"/>
          <p:cNvSpPr txBox="1"/>
          <p:nvPr/>
        </p:nvSpPr>
        <p:spPr>
          <a:xfrm>
            <a:off x="859536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clientes declarados “vivos” (P ≥ 0.5)</a:t>
            </a:r>
            <a:endParaRPr lang="en-US" sz="1600" dirty="0"/>
          </a:p>
        </p:txBody>
      </p:sp>
      <p:sp>
        <p:nvSpPr>
          <p:cNvPr id="10" name="conf-cifra1"/>
          <p:cNvSpPr txBox="1"/>
          <p:nvPr/>
        </p:nvSpPr>
        <p:spPr>
          <a:xfrm>
            <a:off x="649224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545</a:t>
            </a:r>
            <a:endParaRPr lang="en-US" sz="4400" dirty="0"/>
          </a:p>
        </p:txBody>
      </p:sp>
      <p:sp>
        <p:nvSpPr>
          <p:cNvPr id="11" name="conf-texto1"/>
          <p:cNvSpPr txBox="1"/>
          <p:nvPr/>
        </p:nvSpPr>
        <p:spPr>
          <a:xfrm>
            <a:off x="859536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ellos compraron</a:t>
            </a:r>
            <a:endParaRPr lang="en-US" sz="1600" dirty="0"/>
          </a:p>
        </p:txBody>
      </p:sp>
      <p:sp>
        <p:nvSpPr>
          <p:cNvPr id="12" name="conf-cifra2"/>
          <p:cNvSpPr txBox="1"/>
          <p:nvPr/>
        </p:nvSpPr>
        <p:spPr>
          <a:xfrm>
            <a:off x="6492240" y="4480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400" dirty="0"/>
          </a:p>
        </p:txBody>
      </p:sp>
      <p:sp>
        <p:nvSpPr>
          <p:cNvPr id="13" name="conf-texto2"/>
          <p:cNvSpPr txBox="1"/>
          <p:nvPr/>
        </p:nvSpPr>
        <p:spPr>
          <a:xfrm>
            <a:off x="859536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exactitud, contra 71% de decir “nadie compra”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culpable: los que nunca volvieron</a:t>
            </a:r>
            <a:endParaRPr lang="en-US" sz="3600" dirty="0"/>
          </a:p>
        </p:txBody>
      </p:sp>
      <p:sp>
        <p:nvSpPr>
          <p:cNvPr id="3" name="tarjeta-grupo0"/>
          <p:cNvSpPr/>
          <p:nvPr/>
        </p:nvSpPr>
        <p:spPr>
          <a:xfrm>
            <a:off x="548640" y="146304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grupo-titulo0"/>
          <p:cNvSpPr txBox="1"/>
          <p:nvPr/>
        </p:nvSpPr>
        <p:spPr>
          <a:xfrm>
            <a:off x="82296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Sin recompras (x = 0)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1,411 clientes</a:t>
            </a:r>
            <a:endParaRPr lang="en-US" sz="1800" dirty="0"/>
          </a:p>
        </p:txBody>
      </p:sp>
      <p:sp>
        <p:nvSpPr>
          <p:cNvPr id="5" name="grupo-pvivo0"/>
          <p:cNvSpPr txBox="1"/>
          <p:nvPr/>
        </p:nvSpPr>
        <p:spPr>
          <a:xfrm>
            <a:off x="82296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800" dirty="0"/>
          </a:p>
        </p:txBody>
      </p:sp>
      <p:sp>
        <p:nvSpPr>
          <p:cNvPr id="6" name="grupo-pvivo-et0"/>
          <p:cNvSpPr txBox="1"/>
          <p:nvPr/>
        </p:nvSpPr>
        <p:spPr>
          <a:xfrm>
            <a:off x="8229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P(vivo) de todos</a:t>
            </a:r>
            <a:endParaRPr lang="en-US" sz="1400" dirty="0"/>
          </a:p>
        </p:txBody>
      </p:sp>
      <p:sp>
        <p:nvSpPr>
          <p:cNvPr id="7" name="grupo-compra0"/>
          <p:cNvSpPr txBox="1"/>
          <p:nvPr/>
        </p:nvSpPr>
        <p:spPr>
          <a:xfrm>
            <a:off x="82296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13.7%</a:t>
            </a:r>
            <a:endParaRPr lang="en-US" sz="4800" dirty="0"/>
          </a:p>
        </p:txBody>
      </p:sp>
      <p:sp>
        <p:nvSpPr>
          <p:cNvPr id="8" name="grupo-compra-et0"/>
          <p:cNvSpPr txBox="1"/>
          <p:nvPr/>
        </p:nvSpPr>
        <p:spPr>
          <a:xfrm>
            <a:off x="82296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compró en el holdout</a:t>
            </a:r>
            <a:endParaRPr lang="en-US" sz="1400" dirty="0"/>
          </a:p>
        </p:txBody>
      </p:sp>
      <p:sp>
        <p:nvSpPr>
          <p:cNvPr id="9" name="tarjeta-grupo1"/>
          <p:cNvSpPr/>
          <p:nvPr/>
        </p:nvSpPr>
        <p:spPr>
          <a:xfrm>
            <a:off x="4572000" y="146304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grupo-titulo1"/>
          <p:cNvSpPr txBox="1"/>
          <p:nvPr/>
        </p:nvSpPr>
        <p:spPr>
          <a:xfrm>
            <a:off x="484632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 recompras (x &gt; 0)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946 clientes</a:t>
            </a:r>
            <a:endParaRPr lang="en-US" sz="1800" dirty="0"/>
          </a:p>
        </p:txBody>
      </p:sp>
      <p:sp>
        <p:nvSpPr>
          <p:cNvPr id="11" name="grupo-pvivo1"/>
          <p:cNvSpPr txBox="1"/>
          <p:nvPr/>
        </p:nvSpPr>
        <p:spPr>
          <a:xfrm>
            <a:off x="484632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4800" dirty="0"/>
          </a:p>
        </p:txBody>
      </p:sp>
      <p:sp>
        <p:nvSpPr>
          <p:cNvPr id="12" name="grupo-pvivo-et1"/>
          <p:cNvSpPr txBox="1"/>
          <p:nvPr/>
        </p:nvSpPr>
        <p:spPr>
          <a:xfrm>
            <a:off x="48463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P(vivo) promedio</a:t>
            </a:r>
            <a:endParaRPr lang="en-US" sz="1400" dirty="0"/>
          </a:p>
        </p:txBody>
      </p:sp>
      <p:sp>
        <p:nvSpPr>
          <p:cNvPr id="13" name="grupo-compra1"/>
          <p:cNvSpPr txBox="1"/>
          <p:nvPr/>
        </p:nvSpPr>
        <p:spPr>
          <a:xfrm>
            <a:off x="484632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51.9%</a:t>
            </a:r>
            <a:endParaRPr lang="en-US" sz="4800" dirty="0"/>
          </a:p>
        </p:txBody>
      </p:sp>
      <p:sp>
        <p:nvSpPr>
          <p:cNvPr id="14" name="grupo-compra-et1"/>
          <p:cNvSpPr txBox="1"/>
          <p:nvPr/>
        </p:nvSpPr>
        <p:spPr>
          <a:xfrm>
            <a:off x="484632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compró en el holdout</a:t>
            </a:r>
            <a:endParaRPr lang="en-US" sz="1400" dirty="0"/>
          </a:p>
        </p:txBody>
      </p:sp>
      <p:sp>
        <p:nvSpPr>
          <p:cNvPr id="15" name="tarjeta-explicacion"/>
          <p:cNvSpPr/>
          <p:nvPr/>
        </p:nvSpPr>
        <p:spPr>
          <a:xfrm>
            <a:off x="8595360" y="1463040"/>
            <a:ext cx="3017520" cy="3840480"/>
          </a:xfrm>
          <a:prstGeom prst="roundRect">
            <a:avLst>
              <a:gd name="adj" fmla="val 3636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16" name="explicacion-texto"/>
          <p:cNvSpPr txBox="1"/>
          <p:nvPr/>
        </p:nvSpPr>
        <p:spPr>
          <a:xfrm>
            <a:off x="8869680" y="169164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¿Por qué?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En el BG/NBD solo se muere justo después de una recompra. Quien nunca recompró no tuvo oportunidad de morir: P(vivo) = 1.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El ranking pone hasta arriba, empatados, al grupo que menos compra.</a:t>
            </a:r>
            <a:endParaRPr lang="en-US" sz="1500" dirty="0"/>
          </a:p>
        </p:txBody>
      </p:sp>
      <p:sp>
        <p:nvSpPr>
          <p:cNvPr id="17" name="moraleja-vivo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Moraleja: “vivo” no es “va a comprar”. Alguien puede estar vivo y comprar una vez cada cinco años.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pregunta correcta: ¿comprará?</a:t>
            </a:r>
            <a:endParaRPr lang="en-US" sz="3600" dirty="0"/>
          </a:p>
        </p:txBody>
      </p:sp>
      <p:sp>
        <p:nvSpPr>
          <p:cNvPr id="3" name="tarjeta-formula"/>
          <p:cNvSpPr/>
          <p:nvPr/>
        </p:nvSpPr>
        <p:spPr>
          <a:xfrm>
            <a:off x="548640" y="14630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formula-pz"/>
          <p:cNvSpPr txBox="1"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P(Z = 1) = P(vivo) · [1 − ((α + T) / (α + T + τ))^(r + x)]</a:t>
            </a:r>
            <a:endParaRPr lang="en-US" sz="1600" dirty="0"/>
          </a:p>
        </p:txBody>
      </p:sp>
      <p:sp>
        <p:nvSpPr>
          <p:cNvPr id="5" name="formula-lectura"/>
          <p:cNvSpPr txBox="1"/>
          <p:nvPr/>
        </p:nvSpPr>
        <p:spPr>
          <a:xfrm>
            <a:off x="822960" y="2423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Estar vivo × comprar al menos una vez en τ semanas, con la tasa actualizada por lo que ya hizo el cliente.</a:t>
            </a:r>
            <a:endParaRPr lang="en-US" sz="1400" dirty="0"/>
          </a:p>
        </p:txBody>
      </p:sp>
      <p:graphicFrame>
        <p:nvGraphicFramePr>
          <p:cNvPr id="6" name="grafica-auc" descr=""/>
          <p:cNvGraphicFramePr/>
          <p:nvPr/>
        </p:nvGraphicFramePr>
        <p:xfrm>
          <a:off x="6400800" y="137160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irculo-honesto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8" name="icono-honesto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881628"/>
            <a:ext cx="329184" cy="329184"/>
          </a:xfrm>
          <a:prstGeom prst="rect">
            <a:avLst/>
          </a:prstGeom>
        </p:spPr>
      </p:pic>
      <p:sp>
        <p:nvSpPr>
          <p:cNvPr id="9" name="honesto-texto"/>
          <p:cNvSpPr txBox="1"/>
          <p:nvPr/>
        </p:nvSpPr>
        <p:spPr>
          <a:xfrm>
            <a:off x="1417320" y="3657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Siendo honestos: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ordena igual que la recencia sola. Lo que agrega son probabilidades calibradas (Brier 0.161 vs 0.206), cualquier horizonte y totales, sin usar etiquetas.</a:t>
            </a:r>
            <a:endParaRPr lang="en-US" sz="1500" dirty="0"/>
          </a:p>
        </p:txBody>
      </p:sp>
      <p:sp>
        <p:nvSpPr>
          <p:cNvPr id="10" name="verificacion"/>
          <p:cNvSpPr txBox="1"/>
          <p:nvPr/>
        </p:nvSpPr>
        <p:spPr>
          <a:xfrm>
            <a:off x="1417320" y="5257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Verificada por simulación: en cada decil, la fórmula y la fracción simulada difieren menos de 0.013.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Cambiar una pieza cambia la historia</a:t>
            </a:r>
            <a:endParaRPr lang="en-US" sz="3600" dirty="0"/>
          </a:p>
        </p:txBody>
      </p:sp>
      <p:sp>
        <p:nvSpPr>
          <p:cNvPr id="3" name="mbg-intro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MBG/NBD: igual que el BG/NBD, pero el cliente también puede irse justo después de su primera compra.</a:t>
            </a:r>
            <a:endParaRPr lang="en-US" sz="1800" dirty="0"/>
          </a:p>
        </p:txBody>
      </p:sp>
      <p:sp>
        <p:nvSpPr>
          <p:cNvPr id="4" name="col-bg"/>
          <p:cNvSpPr txBox="1"/>
          <p:nvPr/>
        </p:nvSpPr>
        <p:spPr>
          <a:xfrm>
            <a:off x="56692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BG/NBD</a:t>
            </a:r>
            <a:endParaRPr lang="en-US" sz="1600" dirty="0"/>
          </a:p>
        </p:txBody>
      </p:sp>
      <p:sp>
        <p:nvSpPr>
          <p:cNvPr id="5" name="col-mbg"/>
          <p:cNvSpPr txBox="1"/>
          <p:nvPr/>
        </p:nvSpPr>
        <p:spPr>
          <a:xfrm>
            <a:off x="89611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MBG/NBD</a:t>
            </a:r>
            <a:endParaRPr lang="en-US" sz="1600" dirty="0"/>
          </a:p>
        </p:txBody>
      </p:sp>
      <p:sp>
        <p:nvSpPr>
          <p:cNvPr id="6" name="tarjeta-fila0"/>
          <p:cNvSpPr/>
          <p:nvPr/>
        </p:nvSpPr>
        <p:spPr>
          <a:xfrm>
            <a:off x="548640" y="25603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fila-et0"/>
          <p:cNvSpPr txBox="1"/>
          <p:nvPr/>
        </p:nvSpPr>
        <p:spPr>
          <a:xfrm>
            <a:off x="822960" y="2560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P(vivo) de los clientes con x = 0</a:t>
            </a:r>
            <a:endParaRPr lang="en-US" sz="1600" dirty="0"/>
          </a:p>
        </p:txBody>
      </p:sp>
      <p:sp>
        <p:nvSpPr>
          <p:cNvPr id="8" name="fila-bg0"/>
          <p:cNvSpPr txBox="1"/>
          <p:nvPr/>
        </p:nvSpPr>
        <p:spPr>
          <a:xfrm>
            <a:off x="566928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1.00</a:t>
            </a:r>
            <a:endParaRPr lang="en-US" sz="2200" dirty="0"/>
          </a:p>
        </p:txBody>
      </p:sp>
      <p:pic>
        <p:nvPicPr>
          <p:cNvPr id="9" name="flecha0" descr="cambia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0"/>
            <a:ext cx="274320" cy="274320"/>
          </a:xfrm>
          <a:prstGeom prst="rect">
            <a:avLst/>
          </a:prstGeom>
        </p:spPr>
      </p:pic>
      <p:sp>
        <p:nvSpPr>
          <p:cNvPr id="10" name="fila-mbg0"/>
          <p:cNvSpPr txBox="1"/>
          <p:nvPr/>
        </p:nvSpPr>
        <p:spPr>
          <a:xfrm>
            <a:off x="896112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0.41</a:t>
            </a:r>
            <a:endParaRPr lang="en-US" sz="2200" dirty="0"/>
          </a:p>
        </p:txBody>
      </p:sp>
      <p:sp>
        <p:nvSpPr>
          <p:cNvPr id="11" name="tarjeta-fila1"/>
          <p:cNvSpPr/>
          <p:nvPr/>
        </p:nvSpPr>
        <p:spPr>
          <a:xfrm>
            <a:off x="548640" y="33375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fila-et1"/>
          <p:cNvSpPr txBox="1"/>
          <p:nvPr/>
        </p:nvSpPr>
        <p:spPr>
          <a:xfrm>
            <a:off x="82296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AUC de P(vivo)</a:t>
            </a:r>
            <a:endParaRPr lang="en-US" sz="1600" dirty="0"/>
          </a:p>
        </p:txBody>
      </p:sp>
      <p:sp>
        <p:nvSpPr>
          <p:cNvPr id="13" name="fila-bg1"/>
          <p:cNvSpPr txBox="1"/>
          <p:nvPr/>
        </p:nvSpPr>
        <p:spPr>
          <a:xfrm>
            <a:off x="566928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0.316</a:t>
            </a:r>
            <a:endParaRPr lang="en-US" sz="2200" dirty="0"/>
          </a:p>
        </p:txBody>
      </p:sp>
      <p:pic>
        <p:nvPicPr>
          <p:cNvPr id="14" name="flecha1" descr="cambia 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520440"/>
            <a:ext cx="274320" cy="274320"/>
          </a:xfrm>
          <a:prstGeom prst="rect">
            <a:avLst/>
          </a:prstGeom>
        </p:spPr>
      </p:pic>
      <p:sp>
        <p:nvSpPr>
          <p:cNvPr id="15" name="fila-mbg1"/>
          <p:cNvSpPr txBox="1"/>
          <p:nvPr/>
        </p:nvSpPr>
        <p:spPr>
          <a:xfrm>
            <a:off x="896112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0.687</a:t>
            </a:r>
            <a:endParaRPr lang="en-US" sz="2200" dirty="0"/>
          </a:p>
        </p:txBody>
      </p:sp>
      <p:sp>
        <p:nvSpPr>
          <p:cNvPr id="16" name="tarjeta-fila2"/>
          <p:cNvSpPr/>
          <p:nvPr/>
        </p:nvSpPr>
        <p:spPr>
          <a:xfrm>
            <a:off x="548640" y="41148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fila-et2"/>
          <p:cNvSpPr txBox="1"/>
          <p:nvPr/>
        </p:nvSpPr>
        <p:spPr>
          <a:xfrm>
            <a:off x="822960" y="4114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AUC de P(Z = 1)</a:t>
            </a:r>
            <a:endParaRPr lang="en-US" sz="1600" dirty="0"/>
          </a:p>
        </p:txBody>
      </p:sp>
      <p:sp>
        <p:nvSpPr>
          <p:cNvPr id="18" name="fila-bg2"/>
          <p:cNvSpPr txBox="1"/>
          <p:nvPr/>
        </p:nvSpPr>
        <p:spPr>
          <a:xfrm>
            <a:off x="566928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0.757</a:t>
            </a:r>
            <a:endParaRPr lang="en-US" sz="2200" dirty="0"/>
          </a:p>
        </p:txBody>
      </p:sp>
      <p:pic>
        <p:nvPicPr>
          <p:cNvPr id="19" name="flecha2" descr="cambia 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97680"/>
            <a:ext cx="274320" cy="274320"/>
          </a:xfrm>
          <a:prstGeom prst="rect">
            <a:avLst/>
          </a:prstGeom>
        </p:spPr>
      </p:pic>
      <p:sp>
        <p:nvSpPr>
          <p:cNvPr id="20" name="fila-mbg2"/>
          <p:cNvSpPr txBox="1"/>
          <p:nvPr/>
        </p:nvSpPr>
        <p:spPr>
          <a:xfrm>
            <a:off x="896112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0.760</a:t>
            </a:r>
            <a:endParaRPr lang="en-US" sz="2200" dirty="0"/>
          </a:p>
        </p:txBody>
      </p:sp>
      <p:sp>
        <p:nvSpPr>
          <p:cNvPr id="21" name="tarjeta-fila3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fila-et3"/>
          <p:cNvSpPr txBox="1"/>
          <p:nvPr/>
        </p:nvSpPr>
        <p:spPr>
          <a:xfrm>
            <a:off x="82296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Log-verosimilitud</a:t>
            </a:r>
            <a:endParaRPr lang="en-US" sz="1600" dirty="0"/>
          </a:p>
        </p:txBody>
      </p:sp>
      <p:sp>
        <p:nvSpPr>
          <p:cNvPr id="23" name="fila-bg3"/>
          <p:cNvSpPr txBox="1"/>
          <p:nvPr/>
        </p:nvSpPr>
        <p:spPr>
          <a:xfrm>
            <a:off x="566928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−9,582.43</a:t>
            </a:r>
            <a:endParaRPr lang="en-US" sz="2200" dirty="0"/>
          </a:p>
        </p:txBody>
      </p:sp>
      <p:pic>
        <p:nvPicPr>
          <p:cNvPr id="24" name="flecha3" descr="cambia 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74920"/>
            <a:ext cx="274320" cy="274320"/>
          </a:xfrm>
          <a:prstGeom prst="rect">
            <a:avLst/>
          </a:prstGeom>
        </p:spPr>
      </p:pic>
      <p:sp>
        <p:nvSpPr>
          <p:cNvPr id="25" name="fila-mbg3"/>
          <p:cNvSpPr txBox="1"/>
          <p:nvPr/>
        </p:nvSpPr>
        <p:spPr>
          <a:xfrm>
            <a:off x="896112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−9,582.14</a:t>
            </a:r>
            <a:endParaRPr lang="en-US" sz="2200" dirty="0"/>
          </a:p>
        </p:txBody>
      </p:sp>
      <p:sp>
        <p:nvSpPr>
          <p:cNvPr id="26" name="mbg-moraleja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P(vivo) se vuelve sensato; quién compra casi no cambia (correlación de rangos 0.98). Para una promoción, ambos ordenan igual. Si el gerente ve un “score de vida”, usaríamos el MBG/NBD.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3"/>
                </a:solidFill>
              </a:rPr>
              <a:t>ACTO IV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El modelo sale de casa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Online Retail: una tienda del Reino Unido que vende artículos de regalo a mayoristas, 2010–2011.</a:t>
            </a:r>
            <a:endParaRPr lang="en-US" sz="2000" dirty="0"/>
          </a:p>
        </p:txBody>
      </p:sp>
      <p:sp>
        <p:nvSpPr>
          <p:cNvPr id="5" name="circulo-actoIV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actoIV" descr="Fa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121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 Online Retail, nadie se muere</a:t>
            </a:r>
            <a:endParaRPr lang="en-US" sz="3600" dirty="0"/>
          </a:p>
        </p:txBody>
      </p:sp>
      <p:sp>
        <p:nvSpPr>
          <p:cNvPr id="3" name="tarjeta-nadie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4" name="cifra-p0"/>
          <p:cNvSpPr txBox="1"/>
          <p:nvPr/>
        </p:nvSpPr>
        <p:spPr>
          <a:xfrm>
            <a:off x="86868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E[p] ≈ 0</a:t>
            </a:r>
            <a:endParaRPr lang="en-US" sz="6000" dirty="0"/>
          </a:p>
        </p:txBody>
      </p:sp>
      <p:sp>
        <p:nvSpPr>
          <p:cNvPr id="5" name="nadie-texto"/>
          <p:cNvSpPr txBox="1"/>
          <p:nvPr/>
        </p:nvSpPr>
        <p:spPr>
          <a:xfrm>
            <a:off x="868680" y="3017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→ 0 y b → ∞: el componente de muerte desaparece.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El BG/NBD colapsa al NBD de 1959, con la misma verosimilitud: −15,107.24.</a:t>
            </a:r>
            <a:endParaRPr lang="en-US" sz="1600" dirty="0"/>
          </a:p>
        </p:txBody>
      </p:sp>
      <p:sp>
        <p:nvSpPr>
          <p:cNvPr id="6" name="circulo-por0"/>
          <p:cNvSpPr/>
          <p:nvPr/>
        </p:nvSpPr>
        <p:spPr>
          <a:xfrm>
            <a:off x="5120640" y="1463040"/>
            <a:ext cx="777240" cy="77724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7" name="icono-por0" descr="FaTr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722" y="1665122"/>
            <a:ext cx="373075" cy="373075"/>
          </a:xfrm>
          <a:prstGeom prst="rect">
            <a:avLst/>
          </a:prstGeom>
        </p:spPr>
      </p:pic>
      <p:sp>
        <p:nvSpPr>
          <p:cNvPr id="8" name="por-texto0"/>
          <p:cNvSpPr txBox="1"/>
          <p:nvPr/>
        </p:nvSpPr>
        <p:spPr>
          <a:xfrm>
            <a:off x="6126480" y="14173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Son mayoristas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Negocios que reabastecen inventario con regularidad; se parecen a un contrato implícito.</a:t>
            </a:r>
            <a:endParaRPr lang="en-US" sz="1500" dirty="0"/>
          </a:p>
        </p:txBody>
      </p:sp>
      <p:sp>
        <p:nvSpPr>
          <p:cNvPr id="9" name="circulo-por1"/>
          <p:cNvSpPr/>
          <p:nvPr/>
        </p:nvSpPr>
        <p:spPr>
          <a:xfrm>
            <a:off x="5120640" y="3017520"/>
            <a:ext cx="777240" cy="77724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10" name="icono-por1" descr="FaVolumeM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722" y="3219602"/>
            <a:ext cx="373075" cy="373075"/>
          </a:xfrm>
          <a:prstGeom prst="rect">
            <a:avLst/>
          </a:prstGeom>
        </p:spPr>
      </p:pic>
      <p:sp>
        <p:nvSpPr>
          <p:cNvPr id="11" name="por-texto1"/>
          <p:cNvSpPr txBox="1"/>
          <p:nvPr/>
        </p:nvSpPr>
        <p:spPr>
          <a:xfrm>
            <a:off x="6126480" y="29718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Silencios cortos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Silencio medio de 6 semanas contra 16 en CDNOW; solo 8% lleva medio año sin comprar (69% en CDNOW).</a:t>
            </a:r>
            <a:endParaRPr lang="en-US" sz="1500" dirty="0"/>
          </a:p>
        </p:txBody>
      </p:sp>
      <p:sp>
        <p:nvSpPr>
          <p:cNvPr id="12" name="circulo-por2"/>
          <p:cNvSpPr/>
          <p:nvPr/>
        </p:nvSpPr>
        <p:spPr>
          <a:xfrm>
            <a:off x="5120640" y="4572000"/>
            <a:ext cx="777240" cy="77724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13" name="icono-por2" descr="FaHourglassHal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722" y="4774082"/>
            <a:ext cx="373075" cy="373075"/>
          </a:xfrm>
          <a:prstGeom prst="rect">
            <a:avLst/>
          </a:prstGeom>
        </p:spPr>
      </p:pic>
      <p:sp>
        <p:nvSpPr>
          <p:cNvPr id="14" name="por-texto2"/>
          <p:cNvSpPr txBox="1"/>
          <p:nvPr/>
        </p:nvSpPr>
        <p:spPr>
          <a:xfrm>
            <a:off x="6126480" y="45262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Calibración corta, clientes viejos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Siete meses de datos; el 30% “aparece” en dic-2010, pero muchos ya eran clientes: son sobrevivientes.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 no ve venir noviembre</a:t>
            </a:r>
            <a:endParaRPr lang="en-US" sz="3600" dirty="0"/>
          </a:p>
        </p:txBody>
      </p:sp>
      <p:graphicFrame>
        <p:nvGraphicFramePr>
          <p:cNvPr id="3" name="grafica-noviembre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nov"/>
          <p:cNvSpPr/>
          <p:nvPr/>
        </p:nvSpPr>
        <p:spPr>
          <a:xfrm>
            <a:off x="8412480" y="146304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cifra-nov"/>
          <p:cNvSpPr txBox="1"/>
          <p:nvPr/>
        </p:nvSpPr>
        <p:spPr>
          <a:xfrm>
            <a:off x="868680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−38%</a:t>
            </a:r>
            <a:endParaRPr lang="en-US" sz="5400" dirty="0"/>
          </a:p>
        </p:txBody>
      </p:sp>
      <p:sp>
        <p:nvSpPr>
          <p:cNvPr id="6" name="etiqueta-nov"/>
          <p:cNvSpPr txBox="1"/>
          <p:nvPr/>
        </p:nvSpPr>
        <p:spPr>
          <a:xfrm>
            <a:off x="8686800" y="2606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error en noviembre: 1,023 pronosticadas vs 1,643 reales</a:t>
            </a:r>
            <a:endParaRPr lang="en-US" sz="1400" dirty="0"/>
          </a:p>
        </p:txBody>
      </p:sp>
      <p:sp>
        <p:nvSpPr>
          <p:cNvPr id="7" name="nov-texto"/>
          <p:cNvSpPr txBox="1"/>
          <p:nvPr/>
        </p:nvSpPr>
        <p:spPr>
          <a:xfrm>
            <a:off x="8412480" y="38404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del holdout: −13%.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modelo supone tasas constantes: no tiene estacionalidad y no puede anticipar la temporada navideña de los mayoristas, lo mismo que vimos en la tarea de series.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3"/>
                </a:solidFill>
              </a:rPr>
              <a:t>ACTO V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560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El retador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37744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¿Para qué tanto esfuerzo, si cualquier científico de datos haría una regresión logística?</a:t>
            </a:r>
            <a:endParaRPr lang="en-US" sz="2000" dirty="0"/>
          </a:p>
        </p:txBody>
      </p:sp>
      <p:sp>
        <p:nvSpPr>
          <p:cNvPr id="5" name="circulo-actoV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cono-actoV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121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logística gana… porque vio el futuro</a:t>
            </a:r>
            <a:endParaRPr lang="en-US" sz="3600" dirty="0"/>
          </a:p>
        </p:txBody>
      </p:sp>
      <p:sp>
        <p:nvSpPr>
          <p:cNvPr id="3" name="cv-intro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Validación cruzada de 5 folds × 20 semillas, horizonte de 39 semanas</a:t>
            </a:r>
            <a:endParaRPr lang="en-US" sz="1500" dirty="0"/>
          </a:p>
        </p:txBody>
      </p:sp>
      <p:sp>
        <p:nvSpPr>
          <p:cNvPr id="4" name="tarjeta-ing0"/>
          <p:cNvSpPr/>
          <p:nvPr/>
        </p:nvSpPr>
        <p:spPr>
          <a:xfrm>
            <a:off x="548640" y="201168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ing-et0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AUC</a:t>
            </a:r>
            <a:endParaRPr lang="en-US" sz="1500" dirty="0"/>
          </a:p>
        </p:txBody>
      </p:sp>
      <p:sp>
        <p:nvSpPr>
          <p:cNvPr id="6" name="ing-log0"/>
          <p:cNvSpPr txBox="1"/>
          <p:nvPr/>
        </p:nvSpPr>
        <p:spPr>
          <a:xfrm>
            <a:off x="82296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0.779</a:t>
            </a:r>
            <a:endParaRPr lang="en-US" sz="3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</a:t>
            </a:r>
            <a:endParaRPr lang="en-US" sz="3600" dirty="0"/>
          </a:p>
        </p:txBody>
      </p:sp>
      <p:sp>
        <p:nvSpPr>
          <p:cNvPr id="7" name="ing-bg0"/>
          <p:cNvSpPr txBox="1"/>
          <p:nvPr/>
        </p:nvSpPr>
        <p:spPr>
          <a:xfrm>
            <a:off x="329184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0.757</a:t>
            </a:r>
            <a:endParaRPr lang="en-US" sz="3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BG/NBD</a:t>
            </a:r>
            <a:endParaRPr lang="en-US" sz="3600" dirty="0"/>
          </a:p>
        </p:txBody>
      </p:sp>
      <p:sp>
        <p:nvSpPr>
          <p:cNvPr id="8" name="tarjeta-ing1"/>
          <p:cNvSpPr/>
          <p:nvPr/>
        </p:nvSpPr>
        <p:spPr>
          <a:xfrm>
            <a:off x="548640" y="384048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ing-et1"/>
          <p:cNvSpPr txBox="1"/>
          <p:nvPr/>
        </p:nvSpPr>
        <p:spPr>
          <a:xfrm>
            <a:off x="82296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Brier (menor es mejor)</a:t>
            </a:r>
            <a:endParaRPr lang="en-US" sz="1500" dirty="0"/>
          </a:p>
        </p:txBody>
      </p:sp>
      <p:sp>
        <p:nvSpPr>
          <p:cNvPr id="10" name="ing-log1"/>
          <p:cNvSpPr txBox="1"/>
          <p:nvPr/>
        </p:nvSpPr>
        <p:spPr>
          <a:xfrm>
            <a:off x="822960" y="4343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0.156</a:t>
            </a:r>
            <a:endParaRPr lang="en-US" sz="3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</a:t>
            </a:r>
            <a:endParaRPr lang="en-US" sz="3600" dirty="0"/>
          </a:p>
        </p:txBody>
      </p:sp>
      <p:sp>
        <p:nvSpPr>
          <p:cNvPr id="11" name="ing-bg1"/>
          <p:cNvSpPr txBox="1"/>
          <p:nvPr/>
        </p:nvSpPr>
        <p:spPr>
          <a:xfrm>
            <a:off x="3291840" y="4343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0.161</a:t>
            </a:r>
            <a:endParaRPr lang="en-US" sz="3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BG/NBD</a:t>
            </a:r>
            <a:endParaRPr lang="en-US" sz="3600" dirty="0"/>
          </a:p>
        </p:txBody>
      </p:sp>
      <p:sp>
        <p:nvSpPr>
          <p:cNvPr id="12" name="tarjeta-fuga"/>
          <p:cNvSpPr/>
          <p:nvPr/>
        </p:nvSpPr>
        <p:spPr>
          <a:xfrm>
            <a:off x="6400800" y="14630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D2333"/>
          </a:solidFill>
          <a:ln w="12700">
            <a:solidFill>
              <a:srgbClr val="1D2333"/>
            </a:solidFill>
            <a:prstDash val="solid"/>
          </a:ln>
        </p:spPr>
      </p:sp>
      <p:sp>
        <p:nvSpPr>
          <p:cNvPr id="13" name="circulo-fuga"/>
          <p:cNvSpPr/>
          <p:nvPr/>
        </p:nvSpPr>
        <p:spPr>
          <a:xfrm>
            <a:off x="6720840" y="178308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4" name="icono-fuga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0" y="1997050"/>
            <a:ext cx="395021" cy="395021"/>
          </a:xfrm>
          <a:prstGeom prst="rect">
            <a:avLst/>
          </a:prstGeom>
        </p:spPr>
      </p:pic>
      <p:sp>
        <p:nvSpPr>
          <p:cNvPr id="15" name="fuga-titulo"/>
          <p:cNvSpPr txBox="1"/>
          <p:nvPr/>
        </p:nvSpPr>
        <p:spPr>
          <a:xfrm>
            <a:off x="77266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 de información</a:t>
            </a:r>
            <a:endParaRPr lang="en-US" sz="2200" dirty="0"/>
          </a:p>
        </p:txBody>
      </p:sp>
      <p:sp>
        <p:nvSpPr>
          <p:cNvPr id="16" name="fuga-texto"/>
          <p:cNvSpPr txBox="1"/>
          <p:nvPr/>
        </p:nvSpPr>
        <p:spPr>
          <a:xfrm>
            <a:off x="6720840" y="2834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Aprendió con etiquetas de octubre de 1997 a junio de 1998 de esta misma cohorte.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El 30 de septiembre de 1997 esas etiquetas no existían.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Es el mismo error de la tarea de series: validar mezclando el futuro con el pasado.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 la versión honesta, el BG/NBD calibra mejor</a:t>
            </a:r>
            <a:endParaRPr lang="en-US" sz="3600" dirty="0"/>
          </a:p>
        </p:txBody>
      </p:sp>
      <p:graphicFrame>
        <p:nvGraphicFramePr>
          <p:cNvPr id="3" name="grafica-honesta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irculo-hon0"/>
          <p:cNvSpPr/>
          <p:nvPr/>
        </p:nvSpPr>
        <p:spPr>
          <a:xfrm>
            <a:off x="7635240" y="1463040"/>
            <a:ext cx="685800" cy="68580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5" name="icono-hon0" descr="Fa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548" y="1641348"/>
            <a:ext cx="329184" cy="329184"/>
          </a:xfrm>
          <a:prstGeom prst="rect">
            <a:avLst/>
          </a:prstGeom>
        </p:spPr>
      </p:pic>
      <p:sp>
        <p:nvSpPr>
          <p:cNvPr id="6" name="hon-texto0"/>
          <p:cNvSpPr txBox="1"/>
          <p:nvPr/>
        </p:nvSpPr>
        <p:spPr>
          <a:xfrm>
            <a:off x="8503920" y="1417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entrena con lo que existía el 30-sep: datos hasta julio y etiquetas julio–septiembre. Ordena parecido (AUC 0.79 vs 0.78).</a:t>
            </a:r>
            <a:endParaRPr lang="en-US" sz="1600" dirty="0"/>
          </a:p>
        </p:txBody>
      </p:sp>
      <p:sp>
        <p:nvSpPr>
          <p:cNvPr id="7" name="circulo-hon1"/>
          <p:cNvSpPr/>
          <p:nvPr/>
        </p:nvSpPr>
        <p:spPr>
          <a:xfrm>
            <a:off x="7635240" y="3017520"/>
            <a:ext cx="685800" cy="68580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8" name="icono-hon1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548" y="3195828"/>
            <a:ext cx="329184" cy="329184"/>
          </a:xfrm>
          <a:prstGeom prst="rect">
            <a:avLst/>
          </a:prstGeom>
        </p:spPr>
      </p:pic>
      <p:sp>
        <p:nvSpPr>
          <p:cNvPr id="9" name="hon-texto1"/>
          <p:cNvSpPr txBox="1"/>
          <p:nvPr/>
        </p:nvSpPr>
        <p:spPr>
          <a:xfrm>
            <a:off x="8503920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Extrapola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entrena con clientes de 14 a 26 semanas de edad y se aplica a clientes de 27 a 39.</a:t>
            </a:r>
            <a:endParaRPr lang="en-US" sz="1600" dirty="0"/>
          </a:p>
        </p:txBody>
      </p:sp>
      <p:sp>
        <p:nvSpPr>
          <p:cNvPr id="10" name="circulo-hon2"/>
          <p:cNvSpPr/>
          <p:nvPr/>
        </p:nvSpPr>
        <p:spPr>
          <a:xfrm>
            <a:off x="7635240" y="4572000"/>
            <a:ext cx="685800" cy="68580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11" name="icono-hon2" descr="Fa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548" y="4750308"/>
            <a:ext cx="329184" cy="329184"/>
          </a:xfrm>
          <a:prstGeom prst="rect">
            <a:avLst/>
          </a:prstGeom>
        </p:spPr>
      </p:pic>
      <p:sp>
        <p:nvSpPr>
          <p:cNvPr id="12" name="hon-texto2"/>
          <p:cNvSpPr txBox="1"/>
          <p:nvPr/>
        </p:nvSpPr>
        <p:spPr>
          <a:xfrm>
            <a:off x="8503920" y="4526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Horizonte horneado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logística de 39 semanas usada a 13 predice 29% de compra cuando compra el 17%. Al BG/NBD solo se le cambia τ.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Veredicto: cada herramienta para su pregunta</a:t>
            </a:r>
            <a:endParaRPr lang="en-US" sz="3600" dirty="0"/>
          </a:p>
        </p:txBody>
      </p:sp>
      <p:sp>
        <p:nvSpPr>
          <p:cNvPr id="3" name="tarjeta-ver0"/>
          <p:cNvSpPr/>
          <p:nvPr/>
        </p:nvSpPr>
        <p:spPr>
          <a:xfrm>
            <a:off x="548640" y="146304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circulo-ver0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o-ver0" descr="FaSortAmount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893722"/>
            <a:ext cx="373075" cy="373075"/>
          </a:xfrm>
          <a:prstGeom prst="rect">
            <a:avLst/>
          </a:prstGeom>
        </p:spPr>
      </p:pic>
      <p:sp>
        <p:nvSpPr>
          <p:cNvPr id="6" name="ver-titulo0"/>
          <p:cNvSpPr txBox="1"/>
          <p:nvPr/>
        </p:nvSpPr>
        <p:spPr>
          <a:xfrm>
            <a:off x="182880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2400" dirty="0"/>
          </a:p>
        </p:txBody>
      </p:sp>
      <p:sp>
        <p:nvSpPr>
          <p:cNvPr id="7" name="ver-lista0"/>
          <p:cNvSpPr txBox="1"/>
          <p:nvPr/>
        </p:nvSpPr>
        <p:spPr>
          <a:xfrm>
            <a:off x="914400" y="27432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Pregunta fija y siempre el mismo horizonte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 que importa es ordenar clientes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Hay etiquetas de un periodo anterior comparable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quieren más variables: monto, canal…</a:t>
            </a:r>
            <a:endParaRPr lang="en-US" sz="1800" dirty="0"/>
          </a:p>
        </p:txBody>
      </p:sp>
      <p:sp>
        <p:nvSpPr>
          <p:cNvPr id="8" name="tarjeta-ver1"/>
          <p:cNvSpPr/>
          <p:nvPr/>
        </p:nvSpPr>
        <p:spPr>
          <a:xfrm>
            <a:off x="6263640" y="146304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circulo-ver1"/>
          <p:cNvSpPr/>
          <p:nvPr/>
        </p:nvSpPr>
        <p:spPr>
          <a:xfrm>
            <a:off x="6583680" y="169164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icono-ver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1893722"/>
            <a:ext cx="373075" cy="373075"/>
          </a:xfrm>
          <a:prstGeom prst="rect">
            <a:avLst/>
          </a:prstGeom>
        </p:spPr>
      </p:pic>
      <p:sp>
        <p:nvSpPr>
          <p:cNvPr id="11" name="ver-titulo1"/>
          <p:cNvSpPr txBox="1"/>
          <p:nvPr/>
        </p:nvSpPr>
        <p:spPr>
          <a:xfrm>
            <a:off x="754380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BG/NBD</a:t>
            </a:r>
            <a:endParaRPr lang="en-US" sz="2400" dirty="0"/>
          </a:p>
        </p:txBody>
      </p:sp>
      <p:sp>
        <p:nvSpPr>
          <p:cNvPr id="12" name="ver-lista1"/>
          <p:cNvSpPr txBox="1"/>
          <p:nvPr/>
        </p:nvSpPr>
        <p:spPr>
          <a:xfrm>
            <a:off x="6629400" y="27432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necesitan niveles: cuántos compran, cuántas compras, CLV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horizonte cambia sin reentrenar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Pronóstico del total, cliente por cliente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hay etiquetas del pasado: cohorte nueva</a:t>
            </a:r>
            <a:endParaRPr lang="en-US" sz="1800" dirty="0"/>
          </a:p>
        </p:txBody>
      </p:sp>
      <p:sp>
        <p:nvSpPr>
          <p:cNvPr id="13" name="ver-sintesis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Lo mejor de los dos mundos: usar P(Z = 1) y E[Y(τ)] del BG/NBD como variables dentro de la logística.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 que nos llevamos</a:t>
            </a:r>
            <a:endParaRPr lang="en-US" sz="4000" dirty="0"/>
          </a:p>
        </p:txBody>
      </p:sp>
      <p:sp>
        <p:nvSpPr>
          <p:cNvPr id="3" name="circulo-mor0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4" name="icono-mor0" descr="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1998878"/>
            <a:ext cx="482803" cy="482803"/>
          </a:xfrm>
          <a:prstGeom prst="rect">
            <a:avLst/>
          </a:prstGeom>
        </p:spPr>
      </p:pic>
      <p:sp>
        <p:nvSpPr>
          <p:cNvPr id="5" name="mor-titulo0"/>
          <p:cNvSpPr txBox="1"/>
          <p:nvPr/>
        </p:nvSpPr>
        <p:spPr>
          <a:xfrm>
            <a:off x="548640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“Vivo” no es “va a comprar”</a:t>
            </a:r>
            <a:endParaRPr lang="en-US" sz="2200" dirty="0"/>
          </a:p>
        </p:txBody>
      </p:sp>
      <p:sp>
        <p:nvSpPr>
          <p:cNvPr id="6" name="mor-texto0"/>
          <p:cNvSpPr txBox="1"/>
          <p:nvPr/>
        </p:nvSpPr>
        <p:spPr>
          <a:xfrm>
            <a:off x="548640" y="3931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 pregunta útil es P(Z = 1), no P(vivo).</a:t>
            </a:r>
            <a:endParaRPr lang="en-US" sz="1600" dirty="0"/>
          </a:p>
        </p:txBody>
      </p:sp>
      <p:sp>
        <p:nvSpPr>
          <p:cNvPr id="7" name="circulo-mor1"/>
          <p:cNvSpPr/>
          <p:nvPr/>
        </p:nvSpPr>
        <p:spPr>
          <a:xfrm>
            <a:off x="4343400" y="173736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cono-mor1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18" y="1998878"/>
            <a:ext cx="482803" cy="482803"/>
          </a:xfrm>
          <a:prstGeom prst="rect">
            <a:avLst/>
          </a:prstGeom>
        </p:spPr>
      </p:pic>
      <p:sp>
        <p:nvSpPr>
          <p:cNvPr id="9" name="mor-titulo1"/>
          <p:cNvSpPr txBox="1"/>
          <p:nvPr/>
        </p:nvSpPr>
        <p:spPr>
          <a:xfrm>
            <a:off x="4343400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es una elección</a:t>
            </a:r>
            <a:endParaRPr lang="en-US" sz="2200" dirty="0"/>
          </a:p>
        </p:txBody>
      </p:sp>
      <p:sp>
        <p:nvSpPr>
          <p:cNvPr id="10" name="mor-texto1"/>
          <p:cNvSpPr txBox="1"/>
          <p:nvPr/>
        </p:nvSpPr>
        <p:spPr>
          <a:xfrm>
            <a:off x="4343400" y="3931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Cambiar cuándo se muere un cliente cambia P(vivo). En mayoristas, la muerte desaparece.</a:t>
            </a:r>
            <a:endParaRPr lang="en-US" sz="1600" dirty="0"/>
          </a:p>
        </p:txBody>
      </p:sp>
      <p:sp>
        <p:nvSpPr>
          <p:cNvPr id="11" name="circulo-mor2"/>
          <p:cNvSpPr/>
          <p:nvPr/>
        </p:nvSpPr>
        <p:spPr>
          <a:xfrm>
            <a:off x="8138160" y="1737360"/>
            <a:ext cx="1005840" cy="1005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2" name="icono-mor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678" y="1998878"/>
            <a:ext cx="482803" cy="482803"/>
          </a:xfrm>
          <a:prstGeom prst="rect">
            <a:avLst/>
          </a:prstGeom>
        </p:spPr>
      </p:pic>
      <p:sp>
        <p:nvSpPr>
          <p:cNvPr id="13" name="mor-titulo2"/>
          <p:cNvSpPr txBox="1"/>
          <p:nvPr/>
        </p:nvSpPr>
        <p:spPr>
          <a:xfrm>
            <a:off x="8138160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Pronostica con lo que sabías ese día</a:t>
            </a:r>
            <a:endParaRPr lang="en-US" sz="2200" dirty="0"/>
          </a:p>
        </p:txBody>
      </p:sp>
      <p:sp>
        <p:nvSpPr>
          <p:cNvPr id="14" name="mor-texto2"/>
          <p:cNvSpPr txBox="1"/>
          <p:nvPr/>
        </p:nvSpPr>
        <p:spPr>
          <a:xfrm>
            <a:off x="8138160" y="3931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 logística solo gana si ve el futuro. El bottom-up gana sin escoger ventanas.</a:t>
            </a:r>
            <a:endParaRPr lang="en-US" sz="1600" dirty="0"/>
          </a:p>
        </p:txBody>
      </p:sp>
      <p:sp>
        <p:nvSpPr>
          <p:cNvPr id="15" name="circulo-repo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rgbClr val="5C6B8A"/>
          </a:solidFill>
          <a:ln w="12700">
            <a:solidFill>
              <a:srgbClr val="5C6B8A"/>
            </a:solidFill>
            <a:prstDash val="solid"/>
          </a:ln>
        </p:spPr>
      </p:sp>
      <p:pic>
        <p:nvPicPr>
          <p:cNvPr id="16" name="icono-repo" descr="FaGith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5674766"/>
            <a:ext cx="263347" cy="263347"/>
          </a:xfrm>
          <a:prstGeom prst="rect">
            <a:avLst/>
          </a:prstGeom>
        </p:spPr>
      </p:pic>
      <p:sp>
        <p:nvSpPr>
          <p:cNvPr id="17" name="repo-link">
            <a:hlinkClick r:id="rId5" tooltip=""/>
          </p:cNvPr>
          <p:cNvSpPr txBox="1"/>
          <p:nvPr/>
        </p:nvSpPr>
        <p:spPr>
          <a:xfrm>
            <a:off x="1280160" y="5532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5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github.com/pabloflores465/proyecto2-btyd · notebook, código a mano y diapositivas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TYD Vivo y Muerte">
  <a:themeElements>
    <a:clrScheme name="BTYD Vivo y Muerte">
      <a:dk1>
        <a:srgbClr val="1A1D29"/>
      </a:dk1>
      <a:lt1>
        <a:srgbClr val="FFFFFF"/>
      </a:lt1>
      <a:dk2>
        <a:srgbClr val="1D2333"/>
      </a:dk2>
      <a:lt2>
        <a:srgbClr val="EEF1F5"/>
      </a:lt2>
      <a:accent1>
        <a:srgbClr val="2A9D8F"/>
      </a:accent1>
      <a:accent2>
        <a:srgbClr val="E76F51"/>
      </a:accent2>
      <a:accent3>
        <a:srgbClr val="F4A261"/>
      </a:accent3>
      <a:accent4>
        <a:srgbClr val="5C6B8A"/>
      </a:accent4>
      <a:accent5>
        <a:srgbClr val="8A94A6"/>
      </a:accent5>
      <a:accent6>
        <a:srgbClr val="E9C46A"/>
      </a:accent6>
      <a:hlink>
        <a:srgbClr val="2A9D8F"/>
      </a:hlink>
      <a:folHlink>
        <a:srgbClr val="5C6B8A"/>
      </a:folHlink>
    </a:clrScheme>
    <a:fontScheme name="BTYD Vivo y Muer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¿Quién sigue vivo? Contando clientes con modelos Buy 'Til You Die</dc:title>
  <dc:subject>Proyecto 2 — Análisis y Ciencia de Datos, UNIS</dc:subject>
  <dc:creator>Proyecto 2 BTYD</dc:creator>
  <cp:lastModifiedBy>Proyecto 2 BTYD</cp:lastModifiedBy>
  <cp:revision>1</cp:revision>
  <dcterms:created xsi:type="dcterms:W3CDTF">2026-10-26T18:51:44Z</dcterms:created>
  <dcterms:modified xsi:type="dcterms:W3CDTF">2026-10-26T18:51:44Z</dcterms:modified>
</cp:coreProperties>
</file>